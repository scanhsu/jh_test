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2" r:id="rId1"/>
    <p:sldMasterId id="2147483691" r:id="rId2"/>
  </p:sldMasterIdLst>
  <p:notesMasterIdLst>
    <p:notesMasterId r:id="rId10"/>
  </p:notesMasterIdLst>
  <p:sldIdLst>
    <p:sldId id="257" r:id="rId3"/>
    <p:sldId id="332" r:id="rId4"/>
    <p:sldId id="329" r:id="rId5"/>
    <p:sldId id="330" r:id="rId6"/>
    <p:sldId id="331" r:id="rId7"/>
    <p:sldId id="324" r:id="rId8"/>
    <p:sldId id="325" r:id="rId9"/>
  </p:sldIdLst>
  <p:sldSz cx="10440988" cy="5872163"/>
  <p:notesSz cx="6858000" cy="9144000"/>
  <p:embeddedFontLst>
    <p:embeddedFont>
      <p:font typeface="Barlow Condensed SemiBold" panose="02020500000000000000" charset="0"/>
      <p:bold r:id="rId11"/>
      <p:boldItalic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微軟正黑體" panose="020B0604030504040204" pitchFamily="34" charset="-120"/>
      <p:regular r:id="rId17"/>
      <p:bold r:id="rId18"/>
    </p:embeddedFont>
    <p:embeddedFont>
      <p:font typeface="Bahnschrift SemiBold SemiConden" panose="020B0502040204020203" pitchFamily="34" charset="0"/>
      <p:bold r:id="rId19"/>
    </p:embeddedFont>
    <p:embeddedFont>
      <p:font typeface="Barlow Condensed Medium" panose="02020500000000000000" charset="0"/>
      <p:regular r:id="rId20"/>
      <p:italic r:id="rId21"/>
    </p:embeddedFont>
    <p:embeddedFont>
      <p:font typeface="Bahnschrift Light SemiCondensed" panose="020B0502040204020203" pitchFamily="34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2" userDrawn="1">
          <p15:clr>
            <a:srgbClr val="A4A3A4"/>
          </p15:clr>
        </p15:guide>
        <p15:guide id="2" pos="32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E6E6E6"/>
    <a:srgbClr val="D3DDDF"/>
    <a:srgbClr val="CDE2E5"/>
    <a:srgbClr val="FFFFFF"/>
    <a:srgbClr val="FFAC33"/>
    <a:srgbClr val="FCD208"/>
    <a:srgbClr val="F37A27"/>
    <a:srgbClr val="F57C29"/>
    <a:srgbClr val="449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51" autoAdjust="0"/>
    <p:restoredTop sz="94333" autoAdjust="0"/>
  </p:normalViewPr>
  <p:slideViewPr>
    <p:cSldViewPr snapToGrid="0" showGuides="1">
      <p:cViewPr varScale="1">
        <p:scale>
          <a:sx n="134" d="100"/>
          <a:sy n="134" d="100"/>
        </p:scale>
        <p:origin x="468" y="114"/>
      </p:cViewPr>
      <p:guideLst>
        <p:guide orient="horz" pos="1872"/>
        <p:guide pos="32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2442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38210-29EF-45EB-8FBC-9F3577340376}" type="datetimeFigureOut">
              <a:rPr lang="zh-TW" altLang="en-US" smtClean="0"/>
              <a:t>2022/3/11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8E460-BDF1-4615-8312-0DADD7A96C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13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1pPr>
    <a:lvl2pPr marL="391500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2pPr>
    <a:lvl3pPr marL="783001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3pPr>
    <a:lvl4pPr marL="1174501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4pPr>
    <a:lvl5pPr marL="1566001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5pPr>
    <a:lvl6pPr marL="1957502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6pPr>
    <a:lvl7pPr marL="2349002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7pPr>
    <a:lvl8pPr marL="2740503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8pPr>
    <a:lvl9pPr marL="3132003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68E460-BDF1-4615-8312-0DADD7A96CF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106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EXCO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746"/>
            <a:ext cx="10440984" cy="587305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81" y="340463"/>
            <a:ext cx="1298795" cy="312800"/>
          </a:xfrm>
          <a:prstGeom prst="rect">
            <a:avLst/>
          </a:prstGeom>
        </p:spPr>
      </p:pic>
      <p:sp>
        <p:nvSpPr>
          <p:cNvPr id="9" name="平行四邊形 8"/>
          <p:cNvSpPr/>
          <p:nvPr userDrawn="1"/>
        </p:nvSpPr>
        <p:spPr>
          <a:xfrm>
            <a:off x="56528" y="4584701"/>
            <a:ext cx="2159621" cy="1287064"/>
          </a:xfrm>
          <a:prstGeom prst="parallelogram">
            <a:avLst>
              <a:gd name="adj" fmla="val 36347"/>
            </a:avLst>
          </a:prstGeom>
          <a:solidFill>
            <a:srgbClr val="EEE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20" dirty="0" smtClean="0"/>
              <a:t> </a:t>
            </a:r>
            <a:endParaRPr lang="zh-TW" altLang="en-US" sz="1320" dirty="0"/>
          </a:p>
        </p:txBody>
      </p:sp>
      <p:sp>
        <p:nvSpPr>
          <p:cNvPr id="28" name="矩形 27"/>
          <p:cNvSpPr/>
          <p:nvPr userDrawn="1"/>
        </p:nvSpPr>
        <p:spPr>
          <a:xfrm>
            <a:off x="720539" y="3349309"/>
            <a:ext cx="500297" cy="308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20">
              <a:ln>
                <a:noFill/>
              </a:ln>
            </a:endParaRPr>
          </a:p>
        </p:txBody>
      </p:sp>
      <p:sp>
        <p:nvSpPr>
          <p:cNvPr id="2" name="標題 1"/>
          <p:cNvSpPr>
            <a:spLocks noGrp="1"/>
          </p:cNvSpPr>
          <p:nvPr userDrawn="1">
            <p:ph type="ctrTitle" hasCustomPrompt="1"/>
          </p:nvPr>
        </p:nvSpPr>
        <p:spPr>
          <a:xfrm>
            <a:off x="611776" y="1080718"/>
            <a:ext cx="5424420" cy="2044383"/>
          </a:xfrm>
          <a:prstGeom prst="rect">
            <a:avLst/>
          </a:prstGeom>
        </p:spPr>
        <p:txBody>
          <a:bodyPr anchor="b"/>
          <a:lstStyle>
            <a:lvl1pPr algn="l">
              <a:defRPr sz="4547">
                <a:solidFill>
                  <a:srgbClr val="003366"/>
                </a:solidFill>
                <a:latin typeface="Bahnschrift SemiBold SemiConden" panose="020B0502040204020203" pitchFamily="34" charset="0"/>
              </a:defRPr>
            </a:lvl1pPr>
          </a:lstStyle>
          <a:p>
            <a:r>
              <a:rPr lang="en-US" altLang="zh-TW" dirty="0" smtClean="0"/>
              <a:t>Title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2652" y="3488197"/>
            <a:ext cx="5402412" cy="5770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900">
                <a:solidFill>
                  <a:srgbClr val="003366"/>
                </a:solidFill>
                <a:latin typeface="+mn-lt"/>
              </a:defRPr>
            </a:lvl1pPr>
            <a:lvl2pPr marL="335248" indent="0" algn="ctr">
              <a:buNone/>
              <a:defRPr sz="1467"/>
            </a:lvl2pPr>
            <a:lvl3pPr marL="670496" indent="0" algn="ctr">
              <a:buNone/>
              <a:defRPr sz="1320"/>
            </a:lvl3pPr>
            <a:lvl4pPr marL="1005744" indent="0" algn="ctr">
              <a:buNone/>
              <a:defRPr sz="1173"/>
            </a:lvl4pPr>
            <a:lvl5pPr marL="1340991" indent="0" algn="ctr">
              <a:buNone/>
              <a:defRPr sz="1173"/>
            </a:lvl5pPr>
            <a:lvl6pPr marL="1676239" indent="0" algn="ctr">
              <a:buNone/>
              <a:defRPr sz="1173"/>
            </a:lvl6pPr>
            <a:lvl7pPr marL="2011487" indent="0" algn="ctr">
              <a:buNone/>
              <a:defRPr sz="1173"/>
            </a:lvl7pPr>
            <a:lvl8pPr marL="2346736" indent="0" algn="ctr">
              <a:buNone/>
              <a:defRPr sz="1173"/>
            </a:lvl8pPr>
            <a:lvl9pPr marL="2681984" indent="0" algn="ctr">
              <a:buNone/>
              <a:defRPr sz="1173"/>
            </a:lvl9pPr>
          </a:lstStyle>
          <a:p>
            <a:r>
              <a:rPr lang="en-US" altLang="zh-TW" dirty="0" smtClean="0"/>
              <a:t>Slogan</a:t>
            </a:r>
            <a:endParaRPr lang="zh-TW" altLang="en-US" dirty="0"/>
          </a:p>
        </p:txBody>
      </p:sp>
      <p:sp>
        <p:nvSpPr>
          <p:cNvPr id="39" name="文字方塊 38"/>
          <p:cNvSpPr txBox="1"/>
          <p:nvPr userDrawn="1"/>
        </p:nvSpPr>
        <p:spPr>
          <a:xfrm>
            <a:off x="7497993" y="4899938"/>
            <a:ext cx="2312186" cy="656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altLang="zh-TW" sz="1540" dirty="0" smtClean="0">
                <a:solidFill>
                  <a:srgbClr val="003366"/>
                </a:solidFill>
                <a:latin typeface="Barlow Condensed SemiBold" panose="00000706000000000000" pitchFamily="2" charset="0"/>
              </a:rPr>
              <a:t>www.nexcom.com</a:t>
            </a:r>
            <a:endParaRPr lang="zh-TW" altLang="en-US" sz="1540" dirty="0">
              <a:solidFill>
                <a:srgbClr val="003366"/>
              </a:solidFill>
              <a:latin typeface="Barlow Condensed SemiBold" panose="00000706000000000000" pitchFamily="2" charset="0"/>
            </a:endParaRPr>
          </a:p>
        </p:txBody>
      </p:sp>
      <p:sp>
        <p:nvSpPr>
          <p:cNvPr id="30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50067" y="4683415"/>
            <a:ext cx="1497822" cy="312638"/>
          </a:xfrm>
          <a:prstGeom prst="rect">
            <a:avLst/>
          </a:prstGeom>
        </p:spPr>
        <p:txBody>
          <a:bodyPr/>
          <a:lstStyle>
            <a:lvl1pPr>
              <a:defRPr sz="1099">
                <a:solidFill>
                  <a:srgbClr val="002060"/>
                </a:solidFill>
                <a:latin typeface="Barlow Condensed Medium" panose="00000606000000000000" pitchFamily="2" charset="0"/>
              </a:defRPr>
            </a:lvl1pPr>
          </a:lstStyle>
          <a:p>
            <a:fld id="{3EFD7736-3009-442C-A93D-51A809EAE3FE}" type="datetimeFigureOut">
              <a:rPr lang="zh-TW" altLang="en-US" smtClean="0"/>
              <a:pPr/>
              <a:t>2022/3/11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10076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S 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745"/>
            <a:ext cx="10440984" cy="587305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81" y="340463"/>
            <a:ext cx="1298795" cy="3128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720538" y="3844608"/>
            <a:ext cx="500297" cy="308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20">
              <a:ln>
                <a:noFill/>
              </a:ln>
            </a:endParaRPr>
          </a:p>
        </p:txBody>
      </p:sp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611776" y="1576017"/>
            <a:ext cx="5424420" cy="204438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75000"/>
              </a:lnSpc>
              <a:defRPr sz="4547">
                <a:solidFill>
                  <a:srgbClr val="003366"/>
                </a:solidFill>
              </a:defRPr>
            </a:lvl1pPr>
          </a:lstStyle>
          <a:p>
            <a:r>
              <a:rPr lang="en-US" altLang="zh-TW" dirty="0" smtClean="0"/>
              <a:t>Title</a:t>
            </a:r>
            <a:endParaRPr lang="zh-TW" altLang="en-US" dirty="0"/>
          </a:p>
        </p:txBody>
      </p:sp>
      <p:sp>
        <p:nvSpPr>
          <p:cNvPr id="10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622652" y="3983497"/>
            <a:ext cx="5402412" cy="5770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900">
                <a:solidFill>
                  <a:srgbClr val="003366"/>
                </a:solidFill>
                <a:latin typeface="+mn-lt"/>
              </a:defRPr>
            </a:lvl1pPr>
            <a:lvl2pPr marL="335281" indent="0" algn="ctr">
              <a:buNone/>
              <a:defRPr sz="1467"/>
            </a:lvl2pPr>
            <a:lvl3pPr marL="670562" indent="0" algn="ctr">
              <a:buNone/>
              <a:defRPr sz="1320"/>
            </a:lvl3pPr>
            <a:lvl4pPr marL="1005843" indent="0" algn="ctr">
              <a:buNone/>
              <a:defRPr sz="1173"/>
            </a:lvl4pPr>
            <a:lvl5pPr marL="1341123" indent="0" algn="ctr">
              <a:buNone/>
              <a:defRPr sz="1173"/>
            </a:lvl5pPr>
            <a:lvl6pPr marL="1676404" indent="0" algn="ctr">
              <a:buNone/>
              <a:defRPr sz="1173"/>
            </a:lvl6pPr>
            <a:lvl7pPr marL="2011685" indent="0" algn="ctr">
              <a:buNone/>
              <a:defRPr sz="1173"/>
            </a:lvl7pPr>
            <a:lvl8pPr marL="2346967" indent="0" algn="ctr">
              <a:buNone/>
              <a:defRPr sz="1173"/>
            </a:lvl8pPr>
            <a:lvl9pPr marL="2682248" indent="0" algn="ctr">
              <a:buNone/>
              <a:defRPr sz="1173"/>
            </a:lvl9pPr>
          </a:lstStyle>
          <a:p>
            <a:r>
              <a:rPr lang="en-US" altLang="zh-TW" dirty="0" smtClean="0"/>
              <a:t>Slogan</a:t>
            </a:r>
            <a:endParaRPr lang="zh-TW" altLang="en-US" dirty="0"/>
          </a:p>
        </p:txBody>
      </p:sp>
      <p:sp>
        <p:nvSpPr>
          <p:cNvPr id="11" name="文字方塊 10"/>
          <p:cNvSpPr txBox="1"/>
          <p:nvPr userDrawn="1"/>
        </p:nvSpPr>
        <p:spPr>
          <a:xfrm>
            <a:off x="7497993" y="4899938"/>
            <a:ext cx="2312186" cy="55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altLang="zh-TW" sz="1540" dirty="0" smtClean="0">
                <a:solidFill>
                  <a:srgbClr val="003366"/>
                </a:solidFill>
                <a:latin typeface="Barlow Condensed SemiBold" panose="00000706000000000000" pitchFamily="2" charset="0"/>
              </a:rPr>
              <a:t>www.nexcom.com</a:t>
            </a:r>
            <a:endParaRPr lang="zh-TW" altLang="en-US" sz="1540" dirty="0">
              <a:solidFill>
                <a:srgbClr val="003366"/>
              </a:solidFill>
              <a:latin typeface="Barlow Condensed SemiBold" panose="00000706000000000000" pitchFamily="2" charset="0"/>
            </a:endParaRPr>
          </a:p>
        </p:txBody>
      </p:sp>
      <p:sp>
        <p:nvSpPr>
          <p:cNvPr id="12" name="平行四邊形 11"/>
          <p:cNvSpPr/>
          <p:nvPr userDrawn="1"/>
        </p:nvSpPr>
        <p:spPr>
          <a:xfrm>
            <a:off x="56528" y="4584701"/>
            <a:ext cx="2159621" cy="1287064"/>
          </a:xfrm>
          <a:prstGeom prst="parallelogram">
            <a:avLst>
              <a:gd name="adj" fmla="val 36347"/>
            </a:avLst>
          </a:prstGeom>
          <a:solidFill>
            <a:srgbClr val="EEE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20" dirty="0" smtClean="0"/>
              <a:t> </a:t>
            </a:r>
            <a:endParaRPr lang="zh-TW" altLang="en-US" sz="1320" dirty="0"/>
          </a:p>
        </p:txBody>
      </p:sp>
      <p:sp>
        <p:nvSpPr>
          <p:cNvPr id="13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50067" y="4683415"/>
            <a:ext cx="1497822" cy="312638"/>
          </a:xfrm>
          <a:prstGeom prst="rect">
            <a:avLst/>
          </a:prstGeom>
        </p:spPr>
        <p:txBody>
          <a:bodyPr/>
          <a:lstStyle>
            <a:lvl1pPr>
              <a:defRPr sz="1099">
                <a:solidFill>
                  <a:srgbClr val="002060"/>
                </a:solidFill>
                <a:latin typeface="Barlow Condensed Medium" panose="00000606000000000000" pitchFamily="2" charset="0"/>
              </a:defRPr>
            </a:lvl1pPr>
          </a:lstStyle>
          <a:p>
            <a:fld id="{3EFD7736-3009-442C-A93D-51A809EAE3FE}" type="datetimeFigureOut">
              <a:rPr lang="zh-TW" altLang="en-US" smtClean="0"/>
              <a:pPr/>
              <a:t>2022/3/11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13797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/>
          <p:cNvSpPr/>
          <p:nvPr userDrawn="1"/>
        </p:nvSpPr>
        <p:spPr>
          <a:xfrm>
            <a:off x="517615" y="-298850"/>
            <a:ext cx="2159621" cy="1287064"/>
          </a:xfrm>
          <a:prstGeom prst="parallelogram">
            <a:avLst>
              <a:gd name="adj" fmla="val 36347"/>
            </a:avLst>
          </a:prstGeom>
          <a:solidFill>
            <a:srgbClr val="EEE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20" dirty="0" smtClean="0"/>
              <a:t> </a:t>
            </a:r>
            <a:endParaRPr lang="zh-TW" altLang="en-US" sz="1320" dirty="0"/>
          </a:p>
        </p:txBody>
      </p:sp>
      <p:sp>
        <p:nvSpPr>
          <p:cNvPr id="13" name="標題 1"/>
          <p:cNvSpPr>
            <a:spLocks noGrp="1"/>
          </p:cNvSpPr>
          <p:nvPr>
            <p:ph type="title" hasCustomPrompt="1"/>
          </p:nvPr>
        </p:nvSpPr>
        <p:spPr>
          <a:xfrm>
            <a:off x="717818" y="277096"/>
            <a:ext cx="9005352" cy="56750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  <a:latin typeface="Barlow Condensed SemiBold" panose="02020500000000000000" charset="0"/>
                <a:cs typeface="Calibri" panose="020F0502020204030204" pitchFamily="34" charset="0"/>
              </a:defRPr>
            </a:lvl1pPr>
          </a:lstStyle>
          <a:p>
            <a:r>
              <a:rPr lang="en-US" altLang="zh-TW" dirty="0" smtClean="0"/>
              <a:t>Title</a:t>
            </a:r>
            <a:endParaRPr lang="zh-TW" altLang="en-US" dirty="0"/>
          </a:p>
        </p:txBody>
      </p:sp>
      <p:pic>
        <p:nvPicPr>
          <p:cNvPr id="15" name="圖片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589" y="404449"/>
            <a:ext cx="1298795" cy="3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73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/>
          <p:cNvSpPr/>
          <p:nvPr userDrawn="1"/>
        </p:nvSpPr>
        <p:spPr>
          <a:xfrm>
            <a:off x="527140" y="-313138"/>
            <a:ext cx="2159621" cy="1287064"/>
          </a:xfrm>
          <a:prstGeom prst="parallelogram">
            <a:avLst>
              <a:gd name="adj" fmla="val 36347"/>
            </a:avLst>
          </a:prstGeom>
          <a:solidFill>
            <a:srgbClr val="EEE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20" dirty="0" smtClean="0"/>
              <a:t> </a:t>
            </a:r>
            <a:endParaRPr lang="zh-TW" altLang="en-US" sz="1320" dirty="0"/>
          </a:p>
        </p:txBody>
      </p:sp>
      <p:sp>
        <p:nvSpPr>
          <p:cNvPr id="13" name="標題 1"/>
          <p:cNvSpPr>
            <a:spLocks noGrp="1"/>
          </p:cNvSpPr>
          <p:nvPr>
            <p:ph type="title" hasCustomPrompt="1"/>
          </p:nvPr>
        </p:nvSpPr>
        <p:spPr>
          <a:xfrm>
            <a:off x="717818" y="277096"/>
            <a:ext cx="9005352" cy="56750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  <a:latin typeface="Barlow Condensed SemiBold" panose="02020500000000000000" charset="0"/>
                <a:cs typeface="Calibri" panose="020F0502020204030204" pitchFamily="34" charset="0"/>
              </a:defRPr>
            </a:lvl1pPr>
          </a:lstStyle>
          <a:p>
            <a:r>
              <a:rPr lang="en-US" altLang="zh-TW" dirty="0" smtClean="0"/>
              <a:t>Title</a:t>
            </a:r>
            <a:endParaRPr lang="zh-TW" altLang="en-US" dirty="0"/>
          </a:p>
        </p:txBody>
      </p:sp>
      <p:sp>
        <p:nvSpPr>
          <p:cNvPr id="14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717818" y="1081338"/>
            <a:ext cx="9005352" cy="43161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Barlow Condensed Medium" panose="02020500000000000000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altLang="zh-TW" dirty="0" smtClean="0"/>
              <a:t>Tab</a:t>
            </a:r>
            <a:endParaRPr lang="zh-TW" altLang="en-US" dirty="0"/>
          </a:p>
        </p:txBody>
      </p:sp>
      <p:pic>
        <p:nvPicPr>
          <p:cNvPr id="15" name="圖片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589" y="404449"/>
            <a:ext cx="1298795" cy="3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9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745"/>
            <a:ext cx="10440984" cy="587305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81" y="340463"/>
            <a:ext cx="1298795" cy="3128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720538" y="3854133"/>
            <a:ext cx="500297" cy="308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20">
              <a:ln>
                <a:noFill/>
              </a:ln>
            </a:endParaRPr>
          </a:p>
        </p:txBody>
      </p:sp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611776" y="1585542"/>
            <a:ext cx="5424420" cy="2044383"/>
          </a:xfrm>
          <a:prstGeom prst="rect">
            <a:avLst/>
          </a:prstGeom>
        </p:spPr>
        <p:txBody>
          <a:bodyPr anchor="b"/>
          <a:lstStyle>
            <a:lvl1pPr algn="l">
              <a:defRPr sz="4547">
                <a:solidFill>
                  <a:srgbClr val="003366"/>
                </a:solidFill>
              </a:defRPr>
            </a:lvl1pPr>
          </a:lstStyle>
          <a:p>
            <a:r>
              <a:rPr lang="en-US" altLang="zh-TW" dirty="0" smtClean="0"/>
              <a:t>Title</a:t>
            </a:r>
            <a:endParaRPr lang="zh-TW" altLang="en-US" dirty="0"/>
          </a:p>
        </p:txBody>
      </p:sp>
      <p:sp>
        <p:nvSpPr>
          <p:cNvPr id="10" name="平行四邊形 9"/>
          <p:cNvSpPr/>
          <p:nvPr userDrawn="1"/>
        </p:nvSpPr>
        <p:spPr>
          <a:xfrm>
            <a:off x="73572" y="4809443"/>
            <a:ext cx="2079078" cy="1064356"/>
          </a:xfrm>
          <a:prstGeom prst="parallelogram">
            <a:avLst>
              <a:gd name="adj" fmla="val 36347"/>
            </a:avLst>
          </a:prstGeom>
          <a:solidFill>
            <a:srgbClr val="EEE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20" dirty="0" smtClean="0"/>
              <a:t> </a:t>
            </a:r>
            <a:endParaRPr lang="zh-TW" altLang="en-US" sz="1320" dirty="0"/>
          </a:p>
        </p:txBody>
      </p:sp>
      <p:sp>
        <p:nvSpPr>
          <p:cNvPr id="11" name="文字方塊 10"/>
          <p:cNvSpPr txBox="1"/>
          <p:nvPr userDrawn="1"/>
        </p:nvSpPr>
        <p:spPr>
          <a:xfrm>
            <a:off x="7497993" y="4899938"/>
            <a:ext cx="2312186" cy="55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altLang="zh-TW" sz="1540" dirty="0" smtClean="0">
                <a:solidFill>
                  <a:srgbClr val="003366"/>
                </a:solidFill>
                <a:latin typeface="Barlow Condensed SemiBold" panose="00000706000000000000" pitchFamily="2" charset="0"/>
              </a:rPr>
              <a:t>www.nexcom.com</a:t>
            </a:r>
            <a:endParaRPr lang="zh-TW" altLang="en-US" sz="1540" dirty="0">
              <a:solidFill>
                <a:srgbClr val="003366"/>
              </a:solidFill>
              <a:latin typeface="Barlow Condensed SemiBold" panose="00000706000000000000" pitchFamily="2" charset="0"/>
            </a:endParaRPr>
          </a:p>
        </p:txBody>
      </p:sp>
      <p:sp>
        <p:nvSpPr>
          <p:cNvPr id="12" name="平行四邊形 11"/>
          <p:cNvSpPr/>
          <p:nvPr userDrawn="1"/>
        </p:nvSpPr>
        <p:spPr>
          <a:xfrm>
            <a:off x="56528" y="4584701"/>
            <a:ext cx="2159621" cy="1287064"/>
          </a:xfrm>
          <a:prstGeom prst="parallelogram">
            <a:avLst>
              <a:gd name="adj" fmla="val 36347"/>
            </a:avLst>
          </a:prstGeom>
          <a:solidFill>
            <a:srgbClr val="EEE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20" dirty="0" smtClean="0"/>
              <a:t> </a:t>
            </a:r>
            <a:endParaRPr lang="zh-TW" altLang="en-US" sz="1320" dirty="0"/>
          </a:p>
        </p:txBody>
      </p:sp>
    </p:spTree>
    <p:extLst>
      <p:ext uri="{BB962C8B-B14F-4D97-AF65-F5344CB8AC3E}">
        <p14:creationId xmlns:p14="http://schemas.microsoft.com/office/powerpoint/2010/main" val="6661570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nufacturing Chapter title">
    <p:bg>
      <p:bgPr>
        <a:gradFill>
          <a:gsLst>
            <a:gs pos="0">
              <a:srgbClr val="CDE2E5"/>
            </a:gs>
            <a:gs pos="100000">
              <a:srgbClr val="CDE2E5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/>
          <p:cNvGrpSpPr/>
          <p:nvPr userDrawn="1"/>
        </p:nvGrpSpPr>
        <p:grpSpPr>
          <a:xfrm>
            <a:off x="2598353" y="1200544"/>
            <a:ext cx="5244282" cy="3976906"/>
            <a:chOff x="2380342" y="1248237"/>
            <a:chExt cx="4572001" cy="3467094"/>
          </a:xfrm>
        </p:grpSpPr>
        <p:sp>
          <p:nvSpPr>
            <p:cNvPr id="3" name="文字方塊 2"/>
            <p:cNvSpPr txBox="1">
              <a:spLocks/>
            </p:cNvSpPr>
            <p:nvPr userDrawn="1"/>
          </p:nvSpPr>
          <p:spPr>
            <a:xfrm>
              <a:off x="2380342" y="1248237"/>
              <a:ext cx="4572001" cy="2735260"/>
            </a:xfrm>
            <a:prstGeom prst="rect">
              <a:avLst/>
            </a:prstGeom>
            <a:gradFill flip="none" rotWithShape="1">
              <a:gsLst>
                <a:gs pos="0">
                  <a:srgbClr val="E6E6E6"/>
                </a:gs>
                <a:gs pos="100000">
                  <a:srgbClr val="F2F2F2"/>
                </a:gs>
              </a:gsLst>
              <a:lin ang="5400000" scaled="1"/>
              <a:tileRect/>
            </a:gradFill>
            <a:effectLst>
              <a:outerShdw blurRad="889000" dist="469900" dir="5400000" sx="88000" sy="88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78000"/>
                </a:lnSpc>
              </a:pPr>
              <a:r>
                <a:rPr lang="en-US" altLang="zh-TW" sz="9600" dirty="0" smtClean="0">
                  <a:solidFill>
                    <a:schemeClr val="accent5">
                      <a:lumMod val="75000"/>
                    </a:schemeClr>
                  </a:solidFill>
                  <a:latin typeface="+mj-lt"/>
                </a:rPr>
                <a:t>Thank</a:t>
              </a:r>
            </a:p>
            <a:p>
              <a:pPr algn="ctr">
                <a:lnSpc>
                  <a:spcPct val="78000"/>
                </a:lnSpc>
              </a:pPr>
              <a:r>
                <a:rPr lang="en-US" altLang="zh-TW" sz="9600" dirty="0" smtClean="0">
                  <a:solidFill>
                    <a:schemeClr val="accent5">
                      <a:lumMod val="75000"/>
                    </a:schemeClr>
                  </a:solidFill>
                  <a:latin typeface="+mj-lt"/>
                </a:rPr>
                <a:t>You</a:t>
              </a:r>
              <a:endParaRPr lang="zh-TW" altLang="en-US" sz="9600" dirty="0">
                <a:solidFill>
                  <a:schemeClr val="accent5">
                    <a:lumMod val="75000"/>
                  </a:schemeClr>
                </a:solidFill>
                <a:latin typeface="+mj-lt"/>
              </a:endParaRPr>
            </a:p>
          </p:txBody>
        </p:sp>
        <p:sp>
          <p:nvSpPr>
            <p:cNvPr id="4" name="等腰三角形 3"/>
            <p:cNvSpPr/>
            <p:nvPr userDrawn="1"/>
          </p:nvSpPr>
          <p:spPr>
            <a:xfrm rot="10800000">
              <a:off x="5379356" y="3983400"/>
              <a:ext cx="1410150" cy="731931"/>
            </a:xfrm>
            <a:custGeom>
              <a:avLst/>
              <a:gdLst>
                <a:gd name="connsiteX0" fmla="*/ 0 w 1654629"/>
                <a:gd name="connsiteY0" fmla="*/ 659266 h 659266"/>
                <a:gd name="connsiteX1" fmla="*/ 1654629 w 1654629"/>
                <a:gd name="connsiteY1" fmla="*/ 0 h 659266"/>
                <a:gd name="connsiteX2" fmla="*/ 1654629 w 1654629"/>
                <a:gd name="connsiteY2" fmla="*/ 659266 h 659266"/>
                <a:gd name="connsiteX3" fmla="*/ 0 w 1654629"/>
                <a:gd name="connsiteY3" fmla="*/ 659266 h 659266"/>
                <a:gd name="connsiteX0" fmla="*/ 0 w 1654629"/>
                <a:gd name="connsiteY0" fmla="*/ 659266 h 659266"/>
                <a:gd name="connsiteX1" fmla="*/ 1654629 w 1654629"/>
                <a:gd name="connsiteY1" fmla="*/ 0 h 659266"/>
                <a:gd name="connsiteX2" fmla="*/ 1305379 w 1654629"/>
                <a:gd name="connsiteY2" fmla="*/ 652916 h 659266"/>
                <a:gd name="connsiteX3" fmla="*/ 0 w 1654629"/>
                <a:gd name="connsiteY3" fmla="*/ 659266 h 659266"/>
                <a:gd name="connsiteX0" fmla="*/ 0 w 1654629"/>
                <a:gd name="connsiteY0" fmla="*/ 659266 h 659352"/>
                <a:gd name="connsiteX1" fmla="*/ 1654629 w 1654629"/>
                <a:gd name="connsiteY1" fmla="*/ 0 h 659352"/>
                <a:gd name="connsiteX2" fmla="*/ 1302584 w 1654629"/>
                <a:gd name="connsiteY2" fmla="*/ 659352 h 659352"/>
                <a:gd name="connsiteX3" fmla="*/ 0 w 1654629"/>
                <a:gd name="connsiteY3" fmla="*/ 659266 h 65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4629" h="659352">
                  <a:moveTo>
                    <a:pt x="0" y="659266"/>
                  </a:moveTo>
                  <a:lnTo>
                    <a:pt x="1654629" y="0"/>
                  </a:lnTo>
                  <a:lnTo>
                    <a:pt x="1302584" y="659352"/>
                  </a:lnTo>
                  <a:lnTo>
                    <a:pt x="0" y="65926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254000" dist="101600" dir="5400000" sx="87000" sy="8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81" y="340463"/>
            <a:ext cx="1298795" cy="312800"/>
          </a:xfrm>
          <a:prstGeom prst="rect">
            <a:avLst/>
          </a:prstGeom>
        </p:spPr>
      </p:pic>
      <p:sp>
        <p:nvSpPr>
          <p:cNvPr id="8" name="文字方塊 7"/>
          <p:cNvSpPr txBox="1"/>
          <p:nvPr userDrawn="1"/>
        </p:nvSpPr>
        <p:spPr>
          <a:xfrm>
            <a:off x="7497993" y="4899938"/>
            <a:ext cx="2312186" cy="55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altLang="zh-TW" sz="1540" dirty="0" smtClean="0">
                <a:solidFill>
                  <a:srgbClr val="003366"/>
                </a:solidFill>
                <a:latin typeface="Barlow Condensed SemiBold" panose="00000706000000000000" pitchFamily="2" charset="0"/>
              </a:rPr>
              <a:t>www.nexcom.com</a:t>
            </a:r>
            <a:endParaRPr lang="zh-TW" altLang="en-US" sz="1540" dirty="0">
              <a:solidFill>
                <a:srgbClr val="003366"/>
              </a:solidFill>
              <a:latin typeface="Barlow Condensed SemiBold" panose="000007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8842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nufacturing Chapter title">
    <p:bg>
      <p:bgPr>
        <a:gradFill>
          <a:gsLst>
            <a:gs pos="100000">
              <a:srgbClr val="CDE2E5"/>
            </a:gs>
            <a:gs pos="0">
              <a:srgbClr val="CDE2E5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>
            <a:spLocks/>
          </p:cNvSpPr>
          <p:nvPr userDrawn="1"/>
        </p:nvSpPr>
        <p:spPr>
          <a:xfrm>
            <a:off x="2165952" y="1200544"/>
            <a:ext cx="6109085" cy="3137461"/>
          </a:xfrm>
          <a:prstGeom prst="rect">
            <a:avLst/>
          </a:prstGeom>
          <a:gradFill flip="none" rotWithShape="1">
            <a:gsLst>
              <a:gs pos="100000">
                <a:srgbClr val="F2F2F2"/>
              </a:gs>
              <a:gs pos="0">
                <a:srgbClr val="E6E6E6"/>
              </a:gs>
            </a:gsLst>
            <a:lin ang="5400000" scaled="1"/>
            <a:tileRect/>
          </a:gradFill>
          <a:effectLst>
            <a:outerShdw blurRad="889000" dist="469900" dir="5400000" sx="88000" sy="88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>
              <a:lnSpc>
                <a:spcPct val="78000"/>
              </a:lnSpc>
            </a:pPr>
            <a:r>
              <a:rPr lang="en-US" altLang="zh-TW" sz="9600" dirty="0" smtClean="0">
                <a:solidFill>
                  <a:schemeClr val="accent5">
                    <a:lumMod val="75000"/>
                  </a:schemeClr>
                </a:solidFill>
                <a:latin typeface="+mj-lt"/>
              </a:rPr>
              <a:t>Questions?</a:t>
            </a:r>
            <a:endParaRPr lang="zh-TW" altLang="en-US" sz="9600" dirty="0">
              <a:solidFill>
                <a:schemeClr val="accent5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81" y="340463"/>
            <a:ext cx="1298795" cy="312800"/>
          </a:xfrm>
          <a:prstGeom prst="rect">
            <a:avLst/>
          </a:prstGeom>
        </p:spPr>
      </p:pic>
      <p:sp>
        <p:nvSpPr>
          <p:cNvPr id="8" name="等腰三角形 3"/>
          <p:cNvSpPr/>
          <p:nvPr userDrawn="1"/>
        </p:nvSpPr>
        <p:spPr>
          <a:xfrm rot="10800000">
            <a:off x="6470753" y="4337894"/>
            <a:ext cx="1617503" cy="839556"/>
          </a:xfrm>
          <a:custGeom>
            <a:avLst/>
            <a:gdLst>
              <a:gd name="connsiteX0" fmla="*/ 0 w 1654629"/>
              <a:gd name="connsiteY0" fmla="*/ 659266 h 659266"/>
              <a:gd name="connsiteX1" fmla="*/ 1654629 w 1654629"/>
              <a:gd name="connsiteY1" fmla="*/ 0 h 659266"/>
              <a:gd name="connsiteX2" fmla="*/ 1654629 w 1654629"/>
              <a:gd name="connsiteY2" fmla="*/ 659266 h 659266"/>
              <a:gd name="connsiteX3" fmla="*/ 0 w 1654629"/>
              <a:gd name="connsiteY3" fmla="*/ 659266 h 659266"/>
              <a:gd name="connsiteX0" fmla="*/ 0 w 1654629"/>
              <a:gd name="connsiteY0" fmla="*/ 659266 h 659266"/>
              <a:gd name="connsiteX1" fmla="*/ 1654629 w 1654629"/>
              <a:gd name="connsiteY1" fmla="*/ 0 h 659266"/>
              <a:gd name="connsiteX2" fmla="*/ 1305379 w 1654629"/>
              <a:gd name="connsiteY2" fmla="*/ 652916 h 659266"/>
              <a:gd name="connsiteX3" fmla="*/ 0 w 1654629"/>
              <a:gd name="connsiteY3" fmla="*/ 659266 h 659266"/>
              <a:gd name="connsiteX0" fmla="*/ 0 w 1654629"/>
              <a:gd name="connsiteY0" fmla="*/ 659266 h 659352"/>
              <a:gd name="connsiteX1" fmla="*/ 1654629 w 1654629"/>
              <a:gd name="connsiteY1" fmla="*/ 0 h 659352"/>
              <a:gd name="connsiteX2" fmla="*/ 1302584 w 1654629"/>
              <a:gd name="connsiteY2" fmla="*/ 659352 h 659352"/>
              <a:gd name="connsiteX3" fmla="*/ 0 w 1654629"/>
              <a:gd name="connsiteY3" fmla="*/ 659266 h 65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4629" h="659352">
                <a:moveTo>
                  <a:pt x="0" y="659266"/>
                </a:moveTo>
                <a:lnTo>
                  <a:pt x="1654629" y="0"/>
                </a:lnTo>
                <a:lnTo>
                  <a:pt x="1302584" y="659352"/>
                </a:lnTo>
                <a:lnTo>
                  <a:pt x="0" y="659266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254000" dist="101600" dir="5400000" sx="87000" sy="87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7497993" y="4899938"/>
            <a:ext cx="2312186" cy="55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altLang="zh-TW" sz="1540" dirty="0" smtClean="0">
                <a:solidFill>
                  <a:srgbClr val="003366"/>
                </a:solidFill>
                <a:latin typeface="Barlow Condensed SemiBold" panose="00000706000000000000" pitchFamily="2" charset="0"/>
              </a:rPr>
              <a:t>www.nexcom.com</a:t>
            </a:r>
            <a:endParaRPr lang="zh-TW" altLang="en-US" sz="1540" dirty="0">
              <a:solidFill>
                <a:srgbClr val="003366"/>
              </a:solidFill>
              <a:latin typeface="Barlow Condensed SemiBold" panose="000007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3914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EXCO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746"/>
            <a:ext cx="10440984" cy="587305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81" y="340463"/>
            <a:ext cx="1298795" cy="312800"/>
          </a:xfrm>
          <a:prstGeom prst="rect">
            <a:avLst/>
          </a:prstGeom>
        </p:spPr>
      </p:pic>
      <p:sp>
        <p:nvSpPr>
          <p:cNvPr id="9" name="平行四邊形 8"/>
          <p:cNvSpPr/>
          <p:nvPr userDrawn="1"/>
        </p:nvSpPr>
        <p:spPr>
          <a:xfrm>
            <a:off x="56528" y="4584701"/>
            <a:ext cx="2159621" cy="1287064"/>
          </a:xfrm>
          <a:prstGeom prst="parallelogram">
            <a:avLst>
              <a:gd name="adj" fmla="val 36347"/>
            </a:avLst>
          </a:prstGeom>
          <a:solidFill>
            <a:srgbClr val="EEE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20" dirty="0" smtClean="0"/>
              <a:t> </a:t>
            </a:r>
            <a:endParaRPr lang="zh-TW" altLang="en-US" sz="1320" dirty="0"/>
          </a:p>
        </p:txBody>
      </p:sp>
      <p:sp>
        <p:nvSpPr>
          <p:cNvPr id="28" name="矩形 27"/>
          <p:cNvSpPr/>
          <p:nvPr userDrawn="1"/>
        </p:nvSpPr>
        <p:spPr>
          <a:xfrm>
            <a:off x="720539" y="3349309"/>
            <a:ext cx="500297" cy="308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20">
              <a:ln>
                <a:noFill/>
              </a:ln>
            </a:endParaRPr>
          </a:p>
        </p:txBody>
      </p:sp>
      <p:sp>
        <p:nvSpPr>
          <p:cNvPr id="2" name="標題 1"/>
          <p:cNvSpPr>
            <a:spLocks noGrp="1"/>
          </p:cNvSpPr>
          <p:nvPr userDrawn="1">
            <p:ph type="ctrTitle" hasCustomPrompt="1"/>
          </p:nvPr>
        </p:nvSpPr>
        <p:spPr>
          <a:xfrm>
            <a:off x="611776" y="1080718"/>
            <a:ext cx="5424420" cy="2044383"/>
          </a:xfrm>
          <a:prstGeom prst="rect">
            <a:avLst/>
          </a:prstGeom>
        </p:spPr>
        <p:txBody>
          <a:bodyPr anchor="b"/>
          <a:lstStyle>
            <a:lvl1pPr algn="l">
              <a:defRPr sz="4547">
                <a:solidFill>
                  <a:srgbClr val="003366"/>
                </a:solidFill>
                <a:latin typeface="Bahnschrift SemiBold SemiConden" panose="020B0502040204020203" pitchFamily="34" charset="0"/>
              </a:defRPr>
            </a:lvl1pPr>
          </a:lstStyle>
          <a:p>
            <a:r>
              <a:rPr lang="en-US" altLang="zh-TW" dirty="0" smtClean="0"/>
              <a:t>Title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2652" y="3488197"/>
            <a:ext cx="5402412" cy="5770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900">
                <a:solidFill>
                  <a:srgbClr val="003366"/>
                </a:solidFill>
                <a:latin typeface="+mn-lt"/>
              </a:defRPr>
            </a:lvl1pPr>
            <a:lvl2pPr marL="335248" indent="0" algn="ctr">
              <a:buNone/>
              <a:defRPr sz="1467"/>
            </a:lvl2pPr>
            <a:lvl3pPr marL="670496" indent="0" algn="ctr">
              <a:buNone/>
              <a:defRPr sz="1320"/>
            </a:lvl3pPr>
            <a:lvl4pPr marL="1005744" indent="0" algn="ctr">
              <a:buNone/>
              <a:defRPr sz="1173"/>
            </a:lvl4pPr>
            <a:lvl5pPr marL="1340991" indent="0" algn="ctr">
              <a:buNone/>
              <a:defRPr sz="1173"/>
            </a:lvl5pPr>
            <a:lvl6pPr marL="1676239" indent="0" algn="ctr">
              <a:buNone/>
              <a:defRPr sz="1173"/>
            </a:lvl6pPr>
            <a:lvl7pPr marL="2011487" indent="0" algn="ctr">
              <a:buNone/>
              <a:defRPr sz="1173"/>
            </a:lvl7pPr>
            <a:lvl8pPr marL="2346736" indent="0" algn="ctr">
              <a:buNone/>
              <a:defRPr sz="1173"/>
            </a:lvl8pPr>
            <a:lvl9pPr marL="2681984" indent="0" algn="ctr">
              <a:buNone/>
              <a:defRPr sz="1173"/>
            </a:lvl9pPr>
          </a:lstStyle>
          <a:p>
            <a:r>
              <a:rPr lang="en-US" altLang="zh-TW" dirty="0" smtClean="0"/>
              <a:t>Slogan</a:t>
            </a:r>
            <a:endParaRPr lang="zh-TW" altLang="en-US" dirty="0"/>
          </a:p>
        </p:txBody>
      </p:sp>
      <p:sp>
        <p:nvSpPr>
          <p:cNvPr id="39" name="文字方塊 38"/>
          <p:cNvSpPr txBox="1"/>
          <p:nvPr userDrawn="1"/>
        </p:nvSpPr>
        <p:spPr>
          <a:xfrm>
            <a:off x="7497993" y="4899938"/>
            <a:ext cx="2312186" cy="656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altLang="zh-TW" sz="1540" dirty="0" smtClean="0">
                <a:solidFill>
                  <a:srgbClr val="003366"/>
                </a:solidFill>
                <a:latin typeface="Barlow Condensed SemiBold" panose="00000706000000000000" pitchFamily="2" charset="0"/>
              </a:rPr>
              <a:t>www.nexcom.com</a:t>
            </a:r>
            <a:endParaRPr lang="zh-TW" altLang="en-US" sz="1540" dirty="0">
              <a:solidFill>
                <a:srgbClr val="003366"/>
              </a:solidFill>
              <a:latin typeface="Barlow Condensed SemiBold" panose="00000706000000000000" pitchFamily="2" charset="0"/>
            </a:endParaRPr>
          </a:p>
        </p:txBody>
      </p:sp>
      <p:sp>
        <p:nvSpPr>
          <p:cNvPr id="30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50067" y="4683415"/>
            <a:ext cx="1497822" cy="312638"/>
          </a:xfrm>
          <a:prstGeom prst="rect">
            <a:avLst/>
          </a:prstGeom>
        </p:spPr>
        <p:txBody>
          <a:bodyPr/>
          <a:lstStyle>
            <a:lvl1pPr>
              <a:defRPr sz="1099">
                <a:solidFill>
                  <a:srgbClr val="002060"/>
                </a:solidFill>
                <a:latin typeface="Barlow Condensed Medium" panose="00000606000000000000" pitchFamily="2" charset="0"/>
              </a:defRPr>
            </a:lvl1pPr>
          </a:lstStyle>
          <a:p>
            <a:fld id="{3EFD7736-3009-442C-A93D-51A809EAE3FE}" type="datetimeFigureOut">
              <a:rPr lang="zh-TW" altLang="en-US" smtClean="0"/>
              <a:pPr/>
              <a:t>2022/3/11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00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S 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745"/>
            <a:ext cx="10440984" cy="587305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81" y="340463"/>
            <a:ext cx="1298795" cy="3128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720538" y="3844608"/>
            <a:ext cx="500297" cy="308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20">
              <a:ln>
                <a:noFill/>
              </a:ln>
            </a:endParaRPr>
          </a:p>
        </p:txBody>
      </p:sp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611776" y="1576017"/>
            <a:ext cx="5424420" cy="204438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75000"/>
              </a:lnSpc>
              <a:defRPr sz="4547">
                <a:solidFill>
                  <a:srgbClr val="003366"/>
                </a:solidFill>
              </a:defRPr>
            </a:lvl1pPr>
          </a:lstStyle>
          <a:p>
            <a:r>
              <a:rPr lang="en-US" altLang="zh-TW" dirty="0" smtClean="0"/>
              <a:t>Title</a:t>
            </a:r>
            <a:endParaRPr lang="zh-TW" altLang="en-US" dirty="0"/>
          </a:p>
        </p:txBody>
      </p:sp>
      <p:sp>
        <p:nvSpPr>
          <p:cNvPr id="10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622652" y="3983497"/>
            <a:ext cx="5402412" cy="5770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900">
                <a:solidFill>
                  <a:srgbClr val="003366"/>
                </a:solidFill>
                <a:latin typeface="+mn-lt"/>
              </a:defRPr>
            </a:lvl1pPr>
            <a:lvl2pPr marL="335281" indent="0" algn="ctr">
              <a:buNone/>
              <a:defRPr sz="1467"/>
            </a:lvl2pPr>
            <a:lvl3pPr marL="670562" indent="0" algn="ctr">
              <a:buNone/>
              <a:defRPr sz="1320"/>
            </a:lvl3pPr>
            <a:lvl4pPr marL="1005843" indent="0" algn="ctr">
              <a:buNone/>
              <a:defRPr sz="1173"/>
            </a:lvl4pPr>
            <a:lvl5pPr marL="1341123" indent="0" algn="ctr">
              <a:buNone/>
              <a:defRPr sz="1173"/>
            </a:lvl5pPr>
            <a:lvl6pPr marL="1676404" indent="0" algn="ctr">
              <a:buNone/>
              <a:defRPr sz="1173"/>
            </a:lvl6pPr>
            <a:lvl7pPr marL="2011685" indent="0" algn="ctr">
              <a:buNone/>
              <a:defRPr sz="1173"/>
            </a:lvl7pPr>
            <a:lvl8pPr marL="2346967" indent="0" algn="ctr">
              <a:buNone/>
              <a:defRPr sz="1173"/>
            </a:lvl8pPr>
            <a:lvl9pPr marL="2682248" indent="0" algn="ctr">
              <a:buNone/>
              <a:defRPr sz="1173"/>
            </a:lvl9pPr>
          </a:lstStyle>
          <a:p>
            <a:r>
              <a:rPr lang="en-US" altLang="zh-TW" dirty="0" smtClean="0"/>
              <a:t>Slogan</a:t>
            </a:r>
            <a:endParaRPr lang="zh-TW" altLang="en-US" dirty="0"/>
          </a:p>
        </p:txBody>
      </p:sp>
      <p:sp>
        <p:nvSpPr>
          <p:cNvPr id="11" name="文字方塊 10"/>
          <p:cNvSpPr txBox="1"/>
          <p:nvPr userDrawn="1"/>
        </p:nvSpPr>
        <p:spPr>
          <a:xfrm>
            <a:off x="7497993" y="4899938"/>
            <a:ext cx="2312186" cy="55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altLang="zh-TW" sz="1540" dirty="0" smtClean="0">
                <a:solidFill>
                  <a:srgbClr val="003366"/>
                </a:solidFill>
                <a:latin typeface="Barlow Condensed SemiBold" panose="00000706000000000000" pitchFamily="2" charset="0"/>
              </a:rPr>
              <a:t>www.nexcom.com</a:t>
            </a:r>
            <a:endParaRPr lang="zh-TW" altLang="en-US" sz="1540" dirty="0">
              <a:solidFill>
                <a:srgbClr val="003366"/>
              </a:solidFill>
              <a:latin typeface="Barlow Condensed SemiBold" panose="00000706000000000000" pitchFamily="2" charset="0"/>
            </a:endParaRPr>
          </a:p>
        </p:txBody>
      </p:sp>
      <p:sp>
        <p:nvSpPr>
          <p:cNvPr id="12" name="平行四邊形 11"/>
          <p:cNvSpPr/>
          <p:nvPr userDrawn="1"/>
        </p:nvSpPr>
        <p:spPr>
          <a:xfrm>
            <a:off x="56528" y="4584701"/>
            <a:ext cx="2159621" cy="1287064"/>
          </a:xfrm>
          <a:prstGeom prst="parallelogram">
            <a:avLst>
              <a:gd name="adj" fmla="val 36347"/>
            </a:avLst>
          </a:prstGeom>
          <a:solidFill>
            <a:srgbClr val="EEE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20" dirty="0" smtClean="0"/>
              <a:t> </a:t>
            </a:r>
            <a:endParaRPr lang="zh-TW" altLang="en-US" sz="1320" dirty="0"/>
          </a:p>
        </p:txBody>
      </p:sp>
      <p:sp>
        <p:nvSpPr>
          <p:cNvPr id="13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50067" y="4683415"/>
            <a:ext cx="1497822" cy="312638"/>
          </a:xfrm>
          <a:prstGeom prst="rect">
            <a:avLst/>
          </a:prstGeom>
        </p:spPr>
        <p:txBody>
          <a:bodyPr/>
          <a:lstStyle>
            <a:lvl1pPr>
              <a:defRPr sz="1099">
                <a:solidFill>
                  <a:srgbClr val="002060"/>
                </a:solidFill>
                <a:latin typeface="Barlow Condensed Medium" panose="00000606000000000000" pitchFamily="2" charset="0"/>
              </a:defRPr>
            </a:lvl1pPr>
          </a:lstStyle>
          <a:p>
            <a:fld id="{3EFD7736-3009-442C-A93D-51A809EAE3FE}" type="datetimeFigureOut">
              <a:rPr lang="zh-TW" altLang="en-US" smtClean="0"/>
              <a:pPr/>
              <a:t>2022/3/11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47266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/>
          <p:cNvSpPr/>
          <p:nvPr userDrawn="1"/>
        </p:nvSpPr>
        <p:spPr>
          <a:xfrm>
            <a:off x="527140" y="-313138"/>
            <a:ext cx="2159621" cy="1287064"/>
          </a:xfrm>
          <a:prstGeom prst="parallelogram">
            <a:avLst>
              <a:gd name="adj" fmla="val 36347"/>
            </a:avLst>
          </a:prstGeom>
          <a:solidFill>
            <a:srgbClr val="EEE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20" dirty="0" smtClean="0"/>
              <a:t> </a:t>
            </a:r>
            <a:endParaRPr lang="zh-TW" altLang="en-US" sz="1320" dirty="0"/>
          </a:p>
        </p:txBody>
      </p:sp>
      <p:sp>
        <p:nvSpPr>
          <p:cNvPr id="13" name="標題 1"/>
          <p:cNvSpPr>
            <a:spLocks noGrp="1"/>
          </p:cNvSpPr>
          <p:nvPr>
            <p:ph type="title" hasCustomPrompt="1"/>
          </p:nvPr>
        </p:nvSpPr>
        <p:spPr>
          <a:xfrm>
            <a:off x="717818" y="277096"/>
            <a:ext cx="9005352" cy="56750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TW" dirty="0" smtClean="0"/>
              <a:t>Title</a:t>
            </a:r>
            <a:endParaRPr lang="zh-TW" altLang="en-US" dirty="0"/>
          </a:p>
        </p:txBody>
      </p:sp>
      <p:pic>
        <p:nvPicPr>
          <p:cNvPr id="15" name="圖片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589" y="404449"/>
            <a:ext cx="1298795" cy="3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589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邊形 11"/>
          <p:cNvSpPr/>
          <p:nvPr userDrawn="1"/>
        </p:nvSpPr>
        <p:spPr>
          <a:xfrm>
            <a:off x="527140" y="-313138"/>
            <a:ext cx="2159621" cy="1287064"/>
          </a:xfrm>
          <a:prstGeom prst="parallelogram">
            <a:avLst>
              <a:gd name="adj" fmla="val 36347"/>
            </a:avLst>
          </a:prstGeom>
          <a:solidFill>
            <a:srgbClr val="EEE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20" dirty="0" smtClean="0"/>
              <a:t> </a:t>
            </a:r>
            <a:endParaRPr lang="zh-TW" altLang="en-US" sz="1320" dirty="0"/>
          </a:p>
        </p:txBody>
      </p:sp>
      <p:sp>
        <p:nvSpPr>
          <p:cNvPr id="13" name="標題 1"/>
          <p:cNvSpPr>
            <a:spLocks noGrp="1"/>
          </p:cNvSpPr>
          <p:nvPr>
            <p:ph type="title" hasCustomPrompt="1"/>
          </p:nvPr>
        </p:nvSpPr>
        <p:spPr>
          <a:xfrm>
            <a:off x="717818" y="277096"/>
            <a:ext cx="9005352" cy="56750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TW" dirty="0" smtClean="0"/>
              <a:t>Title</a:t>
            </a:r>
            <a:endParaRPr lang="zh-TW" altLang="en-US" dirty="0"/>
          </a:p>
        </p:txBody>
      </p:sp>
      <p:sp>
        <p:nvSpPr>
          <p:cNvPr id="14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717818" y="1081338"/>
            <a:ext cx="9005352" cy="43161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altLang="zh-TW" dirty="0" smtClean="0"/>
              <a:t>Tab</a:t>
            </a:r>
            <a:endParaRPr lang="zh-TW" altLang="en-US" dirty="0"/>
          </a:p>
        </p:txBody>
      </p:sp>
      <p:pic>
        <p:nvPicPr>
          <p:cNvPr id="15" name="圖片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589" y="404449"/>
            <a:ext cx="1298795" cy="3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5825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745"/>
            <a:ext cx="10440984" cy="587305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81" y="340463"/>
            <a:ext cx="1298795" cy="3128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720538" y="3854133"/>
            <a:ext cx="500297" cy="3082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20">
              <a:ln>
                <a:noFill/>
              </a:ln>
            </a:endParaRPr>
          </a:p>
        </p:txBody>
      </p:sp>
      <p:sp>
        <p:nvSpPr>
          <p:cNvPr id="9" name="標題 1"/>
          <p:cNvSpPr>
            <a:spLocks noGrp="1"/>
          </p:cNvSpPr>
          <p:nvPr>
            <p:ph type="ctrTitle" hasCustomPrompt="1"/>
          </p:nvPr>
        </p:nvSpPr>
        <p:spPr>
          <a:xfrm>
            <a:off x="611776" y="1585542"/>
            <a:ext cx="5424420" cy="2044383"/>
          </a:xfrm>
          <a:prstGeom prst="rect">
            <a:avLst/>
          </a:prstGeom>
        </p:spPr>
        <p:txBody>
          <a:bodyPr anchor="b"/>
          <a:lstStyle>
            <a:lvl1pPr algn="l">
              <a:defRPr sz="4547">
                <a:solidFill>
                  <a:srgbClr val="003366"/>
                </a:solidFill>
              </a:defRPr>
            </a:lvl1pPr>
          </a:lstStyle>
          <a:p>
            <a:r>
              <a:rPr lang="en-US" altLang="zh-TW" dirty="0" smtClean="0"/>
              <a:t>Title</a:t>
            </a:r>
            <a:endParaRPr lang="zh-TW" altLang="en-US" dirty="0"/>
          </a:p>
        </p:txBody>
      </p:sp>
      <p:sp>
        <p:nvSpPr>
          <p:cNvPr id="10" name="平行四邊形 9"/>
          <p:cNvSpPr/>
          <p:nvPr userDrawn="1"/>
        </p:nvSpPr>
        <p:spPr>
          <a:xfrm>
            <a:off x="73572" y="4809443"/>
            <a:ext cx="2079078" cy="1064356"/>
          </a:xfrm>
          <a:prstGeom prst="parallelogram">
            <a:avLst>
              <a:gd name="adj" fmla="val 36347"/>
            </a:avLst>
          </a:prstGeom>
          <a:solidFill>
            <a:srgbClr val="EEE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20" dirty="0" smtClean="0"/>
              <a:t> </a:t>
            </a:r>
            <a:endParaRPr lang="zh-TW" altLang="en-US" sz="1320" dirty="0"/>
          </a:p>
        </p:txBody>
      </p:sp>
      <p:sp>
        <p:nvSpPr>
          <p:cNvPr id="11" name="文字方塊 10"/>
          <p:cNvSpPr txBox="1"/>
          <p:nvPr userDrawn="1"/>
        </p:nvSpPr>
        <p:spPr>
          <a:xfrm>
            <a:off x="7497993" y="4899938"/>
            <a:ext cx="2312186" cy="55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altLang="zh-TW" sz="1540" dirty="0" smtClean="0">
                <a:solidFill>
                  <a:srgbClr val="003366"/>
                </a:solidFill>
                <a:latin typeface="Barlow Condensed SemiBold" panose="00000706000000000000" pitchFamily="2" charset="0"/>
              </a:rPr>
              <a:t>www.nexcom.com</a:t>
            </a:r>
            <a:endParaRPr lang="zh-TW" altLang="en-US" sz="1540" dirty="0">
              <a:solidFill>
                <a:srgbClr val="003366"/>
              </a:solidFill>
              <a:latin typeface="Barlow Condensed SemiBold" panose="00000706000000000000" pitchFamily="2" charset="0"/>
            </a:endParaRPr>
          </a:p>
        </p:txBody>
      </p:sp>
      <p:sp>
        <p:nvSpPr>
          <p:cNvPr id="12" name="平行四邊形 11"/>
          <p:cNvSpPr/>
          <p:nvPr userDrawn="1"/>
        </p:nvSpPr>
        <p:spPr>
          <a:xfrm>
            <a:off x="56528" y="4584701"/>
            <a:ext cx="2159621" cy="1287064"/>
          </a:xfrm>
          <a:prstGeom prst="parallelogram">
            <a:avLst>
              <a:gd name="adj" fmla="val 36347"/>
            </a:avLst>
          </a:prstGeom>
          <a:solidFill>
            <a:srgbClr val="EEEE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20" dirty="0" smtClean="0"/>
              <a:t> </a:t>
            </a:r>
            <a:endParaRPr lang="zh-TW" altLang="en-US" sz="1320" dirty="0"/>
          </a:p>
        </p:txBody>
      </p:sp>
    </p:spTree>
    <p:extLst>
      <p:ext uri="{BB962C8B-B14F-4D97-AF65-F5344CB8AC3E}">
        <p14:creationId xmlns:p14="http://schemas.microsoft.com/office/powerpoint/2010/main" val="542408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nufacturing 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/>
          <p:cNvGrpSpPr/>
          <p:nvPr userDrawn="1"/>
        </p:nvGrpSpPr>
        <p:grpSpPr>
          <a:xfrm>
            <a:off x="2598353" y="1200544"/>
            <a:ext cx="5244282" cy="3976906"/>
            <a:chOff x="2380342" y="1248237"/>
            <a:chExt cx="4572001" cy="3467094"/>
          </a:xfrm>
        </p:grpSpPr>
        <p:sp>
          <p:nvSpPr>
            <p:cNvPr id="3" name="文字方塊 2"/>
            <p:cNvSpPr txBox="1">
              <a:spLocks/>
            </p:cNvSpPr>
            <p:nvPr userDrawn="1"/>
          </p:nvSpPr>
          <p:spPr>
            <a:xfrm>
              <a:off x="2380342" y="1248237"/>
              <a:ext cx="4572001" cy="2735260"/>
            </a:xfrm>
            <a:prstGeom prst="rect">
              <a:avLst/>
            </a:prstGeom>
            <a:gradFill flip="none" rotWithShape="1">
              <a:gsLst>
                <a:gs pos="0">
                  <a:srgbClr val="E6E6E6"/>
                </a:gs>
                <a:gs pos="100000">
                  <a:srgbClr val="F2F2F2"/>
                </a:gs>
              </a:gsLst>
              <a:lin ang="5400000" scaled="1"/>
              <a:tileRect/>
            </a:gradFill>
            <a:effectLst>
              <a:outerShdw blurRad="889000" dist="469900" dir="5400000" sx="88000" sy="88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78000"/>
                </a:lnSpc>
              </a:pPr>
              <a:r>
                <a:rPr lang="en-US" altLang="zh-TW" sz="9600" dirty="0" smtClean="0">
                  <a:solidFill>
                    <a:schemeClr val="accent5">
                      <a:lumMod val="75000"/>
                    </a:schemeClr>
                  </a:solidFill>
                  <a:latin typeface="+mj-lt"/>
                </a:rPr>
                <a:t>Thank</a:t>
              </a:r>
            </a:p>
            <a:p>
              <a:pPr algn="ctr">
                <a:lnSpc>
                  <a:spcPct val="78000"/>
                </a:lnSpc>
              </a:pPr>
              <a:r>
                <a:rPr lang="en-US" altLang="zh-TW" sz="9600" dirty="0" smtClean="0">
                  <a:solidFill>
                    <a:schemeClr val="accent5">
                      <a:lumMod val="75000"/>
                    </a:schemeClr>
                  </a:solidFill>
                  <a:latin typeface="+mj-lt"/>
                </a:rPr>
                <a:t>You</a:t>
              </a:r>
              <a:endParaRPr lang="zh-TW" altLang="en-US" sz="9600" dirty="0">
                <a:solidFill>
                  <a:schemeClr val="accent5">
                    <a:lumMod val="75000"/>
                  </a:schemeClr>
                </a:solidFill>
                <a:latin typeface="+mj-lt"/>
              </a:endParaRPr>
            </a:p>
          </p:txBody>
        </p:sp>
        <p:sp>
          <p:nvSpPr>
            <p:cNvPr id="4" name="等腰三角形 3"/>
            <p:cNvSpPr/>
            <p:nvPr userDrawn="1"/>
          </p:nvSpPr>
          <p:spPr>
            <a:xfrm rot="10800000">
              <a:off x="5379356" y="3983400"/>
              <a:ext cx="1410150" cy="731931"/>
            </a:xfrm>
            <a:custGeom>
              <a:avLst/>
              <a:gdLst>
                <a:gd name="connsiteX0" fmla="*/ 0 w 1654629"/>
                <a:gd name="connsiteY0" fmla="*/ 659266 h 659266"/>
                <a:gd name="connsiteX1" fmla="*/ 1654629 w 1654629"/>
                <a:gd name="connsiteY1" fmla="*/ 0 h 659266"/>
                <a:gd name="connsiteX2" fmla="*/ 1654629 w 1654629"/>
                <a:gd name="connsiteY2" fmla="*/ 659266 h 659266"/>
                <a:gd name="connsiteX3" fmla="*/ 0 w 1654629"/>
                <a:gd name="connsiteY3" fmla="*/ 659266 h 659266"/>
                <a:gd name="connsiteX0" fmla="*/ 0 w 1654629"/>
                <a:gd name="connsiteY0" fmla="*/ 659266 h 659266"/>
                <a:gd name="connsiteX1" fmla="*/ 1654629 w 1654629"/>
                <a:gd name="connsiteY1" fmla="*/ 0 h 659266"/>
                <a:gd name="connsiteX2" fmla="*/ 1305379 w 1654629"/>
                <a:gd name="connsiteY2" fmla="*/ 652916 h 659266"/>
                <a:gd name="connsiteX3" fmla="*/ 0 w 1654629"/>
                <a:gd name="connsiteY3" fmla="*/ 659266 h 659266"/>
                <a:gd name="connsiteX0" fmla="*/ 0 w 1654629"/>
                <a:gd name="connsiteY0" fmla="*/ 659266 h 659352"/>
                <a:gd name="connsiteX1" fmla="*/ 1654629 w 1654629"/>
                <a:gd name="connsiteY1" fmla="*/ 0 h 659352"/>
                <a:gd name="connsiteX2" fmla="*/ 1302584 w 1654629"/>
                <a:gd name="connsiteY2" fmla="*/ 659352 h 659352"/>
                <a:gd name="connsiteX3" fmla="*/ 0 w 1654629"/>
                <a:gd name="connsiteY3" fmla="*/ 659266 h 65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4629" h="659352">
                  <a:moveTo>
                    <a:pt x="0" y="659266"/>
                  </a:moveTo>
                  <a:lnTo>
                    <a:pt x="1654629" y="0"/>
                  </a:lnTo>
                  <a:lnTo>
                    <a:pt x="1302584" y="659352"/>
                  </a:lnTo>
                  <a:lnTo>
                    <a:pt x="0" y="65926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254000" dist="101600" dir="5400000" sx="87000" sy="87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81" y="340463"/>
            <a:ext cx="1298795" cy="312800"/>
          </a:xfrm>
          <a:prstGeom prst="rect">
            <a:avLst/>
          </a:prstGeom>
        </p:spPr>
      </p:pic>
      <p:sp>
        <p:nvSpPr>
          <p:cNvPr id="8" name="文字方塊 7"/>
          <p:cNvSpPr txBox="1"/>
          <p:nvPr userDrawn="1"/>
        </p:nvSpPr>
        <p:spPr>
          <a:xfrm>
            <a:off x="7497993" y="4899938"/>
            <a:ext cx="2312186" cy="55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altLang="zh-TW" sz="1540" dirty="0" smtClean="0">
                <a:solidFill>
                  <a:srgbClr val="003366"/>
                </a:solidFill>
                <a:latin typeface="Barlow Condensed SemiBold" panose="00000706000000000000" pitchFamily="2" charset="0"/>
              </a:rPr>
              <a:t>www.nexcom.com</a:t>
            </a:r>
            <a:endParaRPr lang="zh-TW" altLang="en-US" sz="1540" dirty="0">
              <a:solidFill>
                <a:srgbClr val="003366"/>
              </a:solidFill>
              <a:latin typeface="Barlow Condensed SemiBold" panose="000007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7926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nufacturing 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>
            <a:spLocks/>
          </p:cNvSpPr>
          <p:nvPr userDrawn="1"/>
        </p:nvSpPr>
        <p:spPr>
          <a:xfrm>
            <a:off x="2165952" y="1200544"/>
            <a:ext cx="6109085" cy="3137461"/>
          </a:xfrm>
          <a:prstGeom prst="rect">
            <a:avLst/>
          </a:prstGeom>
          <a:gradFill flip="none" rotWithShape="1">
            <a:gsLst>
              <a:gs pos="100000">
                <a:srgbClr val="F2F2F2"/>
              </a:gs>
              <a:gs pos="0">
                <a:srgbClr val="E6E6E6"/>
              </a:gs>
            </a:gsLst>
            <a:lin ang="5400000" scaled="1"/>
            <a:tileRect/>
          </a:gradFill>
          <a:effectLst>
            <a:outerShdw blurRad="889000" dist="469900" dir="5400000" sx="88000" sy="88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>
              <a:lnSpc>
                <a:spcPct val="78000"/>
              </a:lnSpc>
            </a:pPr>
            <a:r>
              <a:rPr lang="en-US" altLang="zh-TW" sz="9600" dirty="0" smtClean="0">
                <a:solidFill>
                  <a:schemeClr val="accent5">
                    <a:lumMod val="75000"/>
                  </a:schemeClr>
                </a:solidFill>
                <a:latin typeface="+mj-lt"/>
              </a:rPr>
              <a:t>Questions?</a:t>
            </a:r>
            <a:endParaRPr lang="zh-TW" altLang="en-US" sz="9600" dirty="0">
              <a:solidFill>
                <a:schemeClr val="accent5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81" y="340463"/>
            <a:ext cx="1298795" cy="312800"/>
          </a:xfrm>
          <a:prstGeom prst="rect">
            <a:avLst/>
          </a:prstGeom>
        </p:spPr>
      </p:pic>
      <p:sp>
        <p:nvSpPr>
          <p:cNvPr id="8" name="等腰三角形 3"/>
          <p:cNvSpPr/>
          <p:nvPr userDrawn="1"/>
        </p:nvSpPr>
        <p:spPr>
          <a:xfrm rot="10800000">
            <a:off x="6470753" y="4337894"/>
            <a:ext cx="1617503" cy="839556"/>
          </a:xfrm>
          <a:custGeom>
            <a:avLst/>
            <a:gdLst>
              <a:gd name="connsiteX0" fmla="*/ 0 w 1654629"/>
              <a:gd name="connsiteY0" fmla="*/ 659266 h 659266"/>
              <a:gd name="connsiteX1" fmla="*/ 1654629 w 1654629"/>
              <a:gd name="connsiteY1" fmla="*/ 0 h 659266"/>
              <a:gd name="connsiteX2" fmla="*/ 1654629 w 1654629"/>
              <a:gd name="connsiteY2" fmla="*/ 659266 h 659266"/>
              <a:gd name="connsiteX3" fmla="*/ 0 w 1654629"/>
              <a:gd name="connsiteY3" fmla="*/ 659266 h 659266"/>
              <a:gd name="connsiteX0" fmla="*/ 0 w 1654629"/>
              <a:gd name="connsiteY0" fmla="*/ 659266 h 659266"/>
              <a:gd name="connsiteX1" fmla="*/ 1654629 w 1654629"/>
              <a:gd name="connsiteY1" fmla="*/ 0 h 659266"/>
              <a:gd name="connsiteX2" fmla="*/ 1305379 w 1654629"/>
              <a:gd name="connsiteY2" fmla="*/ 652916 h 659266"/>
              <a:gd name="connsiteX3" fmla="*/ 0 w 1654629"/>
              <a:gd name="connsiteY3" fmla="*/ 659266 h 659266"/>
              <a:gd name="connsiteX0" fmla="*/ 0 w 1654629"/>
              <a:gd name="connsiteY0" fmla="*/ 659266 h 659352"/>
              <a:gd name="connsiteX1" fmla="*/ 1654629 w 1654629"/>
              <a:gd name="connsiteY1" fmla="*/ 0 h 659352"/>
              <a:gd name="connsiteX2" fmla="*/ 1302584 w 1654629"/>
              <a:gd name="connsiteY2" fmla="*/ 659352 h 659352"/>
              <a:gd name="connsiteX3" fmla="*/ 0 w 1654629"/>
              <a:gd name="connsiteY3" fmla="*/ 659266 h 65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4629" h="659352">
                <a:moveTo>
                  <a:pt x="0" y="659266"/>
                </a:moveTo>
                <a:lnTo>
                  <a:pt x="1654629" y="0"/>
                </a:lnTo>
                <a:lnTo>
                  <a:pt x="1302584" y="659352"/>
                </a:lnTo>
                <a:lnTo>
                  <a:pt x="0" y="659266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254000" dist="101600" dir="5400000" sx="87000" sy="87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7497993" y="4899938"/>
            <a:ext cx="2312186" cy="55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4400"/>
              </a:lnSpc>
            </a:pPr>
            <a:r>
              <a:rPr lang="en-US" altLang="zh-TW" sz="1540" dirty="0" smtClean="0">
                <a:solidFill>
                  <a:srgbClr val="003366"/>
                </a:solidFill>
                <a:latin typeface="Barlow Condensed SemiBold" panose="00000706000000000000" pitchFamily="2" charset="0"/>
              </a:rPr>
              <a:t>www.nexcom.com</a:t>
            </a:r>
            <a:endParaRPr lang="zh-TW" altLang="en-US" sz="1540" dirty="0">
              <a:solidFill>
                <a:srgbClr val="003366"/>
              </a:solidFill>
              <a:latin typeface="Barlow Condensed SemiBold" panose="000007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566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818" y="312639"/>
            <a:ext cx="9005352" cy="1135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818" y="1563192"/>
            <a:ext cx="9005352" cy="3725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818" y="5442626"/>
            <a:ext cx="2349222" cy="312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31486-60D4-4F4E-A771-8BC5C3EA4736}" type="datetimeFigureOut">
              <a:rPr lang="zh-TW" altLang="en-US" smtClean="0"/>
              <a:t>2022/3/11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8578" y="5442626"/>
            <a:ext cx="3523833" cy="312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3948" y="5442626"/>
            <a:ext cx="2349222" cy="312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E9A7D-B224-469B-8C1B-EE409B34B7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82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88" r:id="rId3"/>
    <p:sldLayoutId id="2147483661" r:id="rId4"/>
    <p:sldLayoutId id="2147483675" r:id="rId5"/>
    <p:sldLayoutId id="2147483689" r:id="rId6"/>
    <p:sldLayoutId id="2147483690" r:id="rId7"/>
  </p:sldLayoutIdLst>
  <p:timing>
    <p:tnLst>
      <p:par>
        <p:cTn id="1" dur="indefinite" restart="never" nodeType="tmRoot"/>
      </p:par>
    </p:tnLst>
  </p:timing>
  <p:txStyles>
    <p:titleStyle>
      <a:lvl1pPr algn="l" defTabSz="783001" rtl="0" eaLnBrk="1" latinLnBrk="0" hangingPunct="1">
        <a:lnSpc>
          <a:spcPct val="90000"/>
        </a:lnSpc>
        <a:spcBef>
          <a:spcPct val="0"/>
        </a:spcBef>
        <a:buNone/>
        <a:defRPr sz="37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750" indent="-195750" algn="l" defTabSz="783001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587251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2pPr>
      <a:lvl3pPr marL="978751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13" kern="1200">
          <a:solidFill>
            <a:schemeClr val="tx1"/>
          </a:solidFill>
          <a:latin typeface="+mn-lt"/>
          <a:ea typeface="+mn-ea"/>
          <a:cs typeface="+mn-cs"/>
        </a:defRPr>
      </a:lvl3pPr>
      <a:lvl4pPr marL="1370251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4pPr>
      <a:lvl5pPr marL="1761752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5pPr>
      <a:lvl6pPr marL="2153252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6pPr>
      <a:lvl7pPr marL="2544752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7pPr>
      <a:lvl8pPr marL="2936253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8pPr>
      <a:lvl9pPr marL="3327753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1pPr>
      <a:lvl2pPr marL="391500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2pPr>
      <a:lvl3pPr marL="783001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3pPr>
      <a:lvl4pPr marL="1174501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4pPr>
      <a:lvl5pPr marL="1566001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5pPr>
      <a:lvl6pPr marL="1957502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6pPr>
      <a:lvl7pPr marL="2349002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7pPr>
      <a:lvl8pPr marL="2740503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8pPr>
      <a:lvl9pPr marL="3132003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rot="19275532">
            <a:off x="304517" y="2084322"/>
            <a:ext cx="99170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smtClean="0">
                <a:solidFill>
                  <a:schemeClr val="bg2"/>
                </a:solidFill>
              </a:rPr>
              <a:t>NEXCOM Confidential NEXCOM Confidential</a:t>
            </a:r>
            <a:endParaRPr lang="en-US" sz="4400" dirty="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818" y="312639"/>
            <a:ext cx="9005352" cy="1135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818" y="1563192"/>
            <a:ext cx="9005352" cy="3725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 smtClean="0"/>
              <a:t>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818" y="5442626"/>
            <a:ext cx="2349222" cy="312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31486-60D4-4F4E-A771-8BC5C3EA4736}" type="datetimeFigureOut">
              <a:rPr lang="zh-TW" altLang="en-US" smtClean="0"/>
              <a:t>2022/3/11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8578" y="5442626"/>
            <a:ext cx="3523833" cy="312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3948" y="5442626"/>
            <a:ext cx="2349222" cy="312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E9A7D-B224-469B-8C1B-EE409B34B7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87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</p:sldLayoutIdLst>
  <p:timing>
    <p:tnLst>
      <p:par>
        <p:cTn id="1" dur="indefinite" restart="never" nodeType="tmRoot"/>
      </p:par>
    </p:tnLst>
  </p:timing>
  <p:txStyles>
    <p:titleStyle>
      <a:lvl1pPr algn="l" defTabSz="783001" rtl="0" eaLnBrk="1" latinLnBrk="0" hangingPunct="1">
        <a:lnSpc>
          <a:spcPct val="90000"/>
        </a:lnSpc>
        <a:spcBef>
          <a:spcPct val="0"/>
        </a:spcBef>
        <a:buNone/>
        <a:defRPr sz="37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750" indent="-195750" algn="l" defTabSz="783001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587251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2pPr>
      <a:lvl3pPr marL="978751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13" kern="1200">
          <a:solidFill>
            <a:schemeClr val="tx1"/>
          </a:solidFill>
          <a:latin typeface="+mn-lt"/>
          <a:ea typeface="+mn-ea"/>
          <a:cs typeface="+mn-cs"/>
        </a:defRPr>
      </a:lvl3pPr>
      <a:lvl4pPr marL="1370251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4pPr>
      <a:lvl5pPr marL="1761752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5pPr>
      <a:lvl6pPr marL="2153252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6pPr>
      <a:lvl7pPr marL="2544752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7pPr>
      <a:lvl8pPr marL="2936253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8pPr>
      <a:lvl9pPr marL="3327753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1pPr>
      <a:lvl2pPr marL="391500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2pPr>
      <a:lvl3pPr marL="783001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3pPr>
      <a:lvl4pPr marL="1174501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4pPr>
      <a:lvl5pPr marL="1566001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5pPr>
      <a:lvl6pPr marL="1957502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6pPr>
      <a:lvl7pPr marL="2349002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7pPr>
      <a:lvl8pPr marL="2740503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8pPr>
      <a:lvl9pPr marL="3132003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ODM</a:t>
            </a:r>
            <a:r>
              <a:rPr lang="zh-TW" altLang="en-US" dirty="0" smtClean="0"/>
              <a:t>與客製成本</a:t>
            </a:r>
            <a:r>
              <a:rPr lang="zh-TW" altLang="en-US" dirty="0"/>
              <a:t>評估</a:t>
            </a:r>
            <a:r>
              <a:rPr lang="zh-TW" altLang="en-US" dirty="0" smtClean="0"/>
              <a:t>格式</a:t>
            </a:r>
            <a:endParaRPr lang="zh-TW" altLang="en-US" dirty="0"/>
          </a:p>
        </p:txBody>
      </p:sp>
      <p:sp>
        <p:nvSpPr>
          <p:cNvPr id="8" name="副標題 7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TW" dirty="0" smtClean="0"/>
              <a:t>The Reliable Partner </a:t>
            </a:r>
            <a:r>
              <a:rPr lang="en-US" altLang="zh-TW" smtClean="0"/>
              <a:t>for the Future </a:t>
            </a:r>
            <a:r>
              <a:rPr lang="en-US" altLang="zh-TW" dirty="0" smtClean="0"/>
              <a:t>Network</a:t>
            </a:r>
            <a:endParaRPr lang="zh-TW" altLang="en-US" dirty="0"/>
          </a:p>
        </p:txBody>
      </p:sp>
      <p:sp>
        <p:nvSpPr>
          <p:cNvPr id="325" name="日期版面配置區 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lIns="67040" tIns="33520" rIns="67040" bIns="33520" rtlCol="0" anchor="ctr"/>
          <a:lstStyle>
            <a:lvl1pPr algn="l">
              <a:defRPr lang="zh-TW" altLang="en-US" sz="1099" kern="1200" smtClean="0">
                <a:solidFill>
                  <a:srgbClr val="003366"/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lvl1pPr>
          </a:lstStyle>
          <a:p>
            <a:fld id="{3EFD7736-3009-442C-A93D-51A809EAE3FE}" type="datetimeFigureOut">
              <a:rPr lang="en-US" altLang="zh-TW" smtClean="0"/>
              <a:pPr/>
              <a:t>3/11/2022</a:t>
            </a:fld>
            <a:endParaRPr 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12477" y="4897453"/>
            <a:ext cx="3846092" cy="583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0"/>
              </a:lnSpc>
            </a:pPr>
            <a:r>
              <a:rPr lang="en-US" altLang="zh-TW" sz="2640" dirty="0" smtClean="0">
                <a:solidFill>
                  <a:srgbClr val="FF0000"/>
                </a:solidFill>
                <a:latin typeface="Bahnschrift Light SemiCondensed" panose="020B0502040204020203" pitchFamily="34" charset="0"/>
              </a:rPr>
              <a:t>Name</a:t>
            </a:r>
            <a:endParaRPr lang="zh-TW" altLang="en-US" sz="2640" dirty="0">
              <a:solidFill>
                <a:srgbClr val="FF0000"/>
              </a:solidFill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7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使用原則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17818" y="1238501"/>
            <a:ext cx="9005352" cy="4316161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n"/>
            </a:pPr>
            <a:r>
              <a:rPr lang="en-US" altLang="zh-TW" sz="2400" dirty="0" smtClean="0"/>
              <a:t>ODM</a:t>
            </a:r>
            <a:r>
              <a:rPr lang="zh-TW" altLang="en-US" sz="2400" dirty="0" smtClean="0"/>
              <a:t>案須改</a:t>
            </a:r>
            <a:r>
              <a:rPr lang="en-US" altLang="zh-TW" sz="2400" dirty="0" smtClean="0"/>
              <a:t>PCB</a:t>
            </a:r>
            <a:r>
              <a:rPr lang="zh-TW" altLang="en-US" sz="2400" dirty="0" smtClean="0"/>
              <a:t>與機構設計，用</a:t>
            </a:r>
            <a:r>
              <a:rPr lang="en-US" altLang="zh-TW" sz="2400" dirty="0" smtClean="0"/>
              <a:t>Function BOM</a:t>
            </a:r>
            <a:r>
              <a:rPr lang="zh-TW" altLang="en-US" sz="2400" dirty="0" smtClean="0"/>
              <a:t>計算成本</a:t>
            </a:r>
            <a:endParaRPr lang="en-US" altLang="zh-TW" sz="2400" dirty="0" smtClean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n"/>
            </a:pPr>
            <a:r>
              <a:rPr lang="zh-TW" altLang="en-US" sz="2400" dirty="0" smtClean="0"/>
              <a:t>標準品只改</a:t>
            </a:r>
            <a:r>
              <a:rPr lang="en-US" altLang="zh-TW" sz="2400" dirty="0" smtClean="0"/>
              <a:t>BOM</a:t>
            </a:r>
            <a:r>
              <a:rPr lang="zh-TW" altLang="en-US" sz="2400" dirty="0" smtClean="0"/>
              <a:t>做客製，不動</a:t>
            </a:r>
            <a:r>
              <a:rPr lang="en-US" altLang="zh-TW" sz="2400" dirty="0" smtClean="0"/>
              <a:t>PCB</a:t>
            </a:r>
            <a:r>
              <a:rPr lang="zh-TW" altLang="en-US" sz="2400" dirty="0" smtClean="0"/>
              <a:t>用加減件計算</a:t>
            </a:r>
            <a:r>
              <a:rPr lang="zh-TW" altLang="en-US" sz="2400" dirty="0" smtClean="0"/>
              <a:t>成本，若</a:t>
            </a:r>
            <a:r>
              <a:rPr lang="en-US" altLang="zh-TW" sz="2400" dirty="0" smtClean="0"/>
              <a:t>KA</a:t>
            </a:r>
            <a:r>
              <a:rPr lang="zh-TW" altLang="en-US" sz="2400" dirty="0" smtClean="0"/>
              <a:t>需要，則仍用</a:t>
            </a:r>
            <a:r>
              <a:rPr lang="en-US" altLang="zh-TW" sz="2400" dirty="0" smtClean="0"/>
              <a:t>Function BOM</a:t>
            </a:r>
            <a:r>
              <a:rPr lang="zh-TW" altLang="en-US" sz="2400" dirty="0" smtClean="0"/>
              <a:t>計算</a:t>
            </a:r>
            <a:endParaRPr lang="en-US" altLang="zh-TW" sz="2400" dirty="0" smtClean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n"/>
            </a:pPr>
            <a:r>
              <a:rPr lang="en-US" altLang="zh-TW" sz="2400" dirty="0" smtClean="0"/>
              <a:t>Summary </a:t>
            </a:r>
            <a:r>
              <a:rPr lang="zh-TW" altLang="en-US" sz="2400" dirty="0" smtClean="0"/>
              <a:t>計算套用公式引用，避免手動調整後前後資訊不</a:t>
            </a:r>
            <a:r>
              <a:rPr lang="zh-TW" altLang="en-US" sz="2400" dirty="0" smtClean="0"/>
              <a:t>一致</a:t>
            </a:r>
            <a:endParaRPr lang="en-US" altLang="zh-TW" sz="2400" dirty="0" smtClean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n"/>
            </a:pPr>
            <a:r>
              <a:rPr lang="en-US" altLang="zh-TW" sz="2400" dirty="0" smtClean="0"/>
              <a:t>BOM cost review </a:t>
            </a:r>
            <a:r>
              <a:rPr lang="zh-TW" altLang="zh-TW" sz="2400" dirty="0"/>
              <a:t>時須先 與</a:t>
            </a:r>
            <a:r>
              <a:rPr lang="en-US" altLang="zh-TW" sz="2400" dirty="0"/>
              <a:t>Golden BOM cost</a:t>
            </a:r>
            <a:r>
              <a:rPr lang="zh-TW" altLang="zh-TW" sz="2400" dirty="0"/>
              <a:t>比對有異常的項目</a:t>
            </a:r>
            <a:endParaRPr lang="en-US" altLang="zh-TW" sz="2400" dirty="0" smtClean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n"/>
            </a:pPr>
            <a:r>
              <a:rPr lang="en-US" altLang="zh-TW" sz="2400" dirty="0"/>
              <a:t>PLM</a:t>
            </a:r>
            <a:r>
              <a:rPr lang="zh-TW" altLang="zh-TW" sz="2400" dirty="0"/>
              <a:t>提供成本評估前需要與業務確定評估數量基礎，</a:t>
            </a:r>
            <a:r>
              <a:rPr lang="en-US" altLang="zh-TW" sz="2400" dirty="0"/>
              <a:t>PCB</a:t>
            </a:r>
            <a:r>
              <a:rPr lang="zh-TW" altLang="zh-TW" sz="2400" dirty="0"/>
              <a:t>，</a:t>
            </a:r>
            <a:r>
              <a:rPr lang="en-US" altLang="zh-TW" sz="2400" dirty="0"/>
              <a:t>Power </a:t>
            </a:r>
            <a:r>
              <a:rPr lang="zh-TW" altLang="zh-TW" sz="2400" dirty="0"/>
              <a:t>，</a:t>
            </a:r>
            <a:r>
              <a:rPr lang="en-US" altLang="zh-TW" sz="2400" dirty="0"/>
              <a:t>Heatsink </a:t>
            </a:r>
            <a:r>
              <a:rPr lang="zh-TW" altLang="zh-TW" sz="2400" dirty="0"/>
              <a:t>與機構件須依數量基礎重新詢價或考慮開模</a:t>
            </a:r>
            <a:r>
              <a:rPr lang="zh-TW" altLang="zh-TW" sz="2400" dirty="0" smtClean="0"/>
              <a:t>價</a:t>
            </a:r>
            <a:endParaRPr lang="en-US" altLang="zh-TW" sz="2400" dirty="0" smtClean="0"/>
          </a:p>
          <a:p>
            <a:pPr>
              <a:lnSpc>
                <a:spcPct val="100000"/>
              </a:lnSpc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63364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1002827"/>
            <a:ext cx="5768181" cy="4244111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Function BOM Summary </a:t>
            </a:r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6716798" y="3834904"/>
            <a:ext cx="3576245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Function </a:t>
            </a:r>
            <a:r>
              <a:rPr lang="en-US" altLang="zh-TW" dirty="0" smtClean="0"/>
              <a:t>BOM cost </a:t>
            </a:r>
            <a:r>
              <a:rPr lang="zh-TW" altLang="en-US" dirty="0" smtClean="0"/>
              <a:t>樞紐分析</a:t>
            </a:r>
            <a:endParaRPr lang="zh-TW" altLang="en-US" dirty="0"/>
          </a:p>
        </p:txBody>
      </p:sp>
      <p:sp>
        <p:nvSpPr>
          <p:cNvPr id="8" name="右大括弧 7"/>
          <p:cNvSpPr/>
          <p:nvPr/>
        </p:nvSpPr>
        <p:spPr>
          <a:xfrm>
            <a:off x="6175344" y="3473766"/>
            <a:ext cx="321536" cy="1262540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右大括弧 9"/>
          <p:cNvSpPr/>
          <p:nvPr/>
        </p:nvSpPr>
        <p:spPr>
          <a:xfrm>
            <a:off x="6126588" y="1068355"/>
            <a:ext cx="321536" cy="494762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716075" y="5405163"/>
            <a:ext cx="1129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Summary 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908708" y="5405163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主 </a:t>
            </a:r>
            <a:r>
              <a:rPr lang="en-US" altLang="zh-TW" dirty="0" smtClean="0"/>
              <a:t>Bare BOM by function 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5088601" y="5405163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其他小卡</a:t>
            </a:r>
            <a:r>
              <a:rPr lang="zh-TW" altLang="en-US" dirty="0" smtClean="0"/>
              <a:t>跟其他參考的成本佐證</a:t>
            </a:r>
            <a:endParaRPr lang="zh-TW" altLang="en-US" dirty="0"/>
          </a:p>
        </p:txBody>
      </p:sp>
      <p:cxnSp>
        <p:nvCxnSpPr>
          <p:cNvPr id="14" name="直線接點 13"/>
          <p:cNvCxnSpPr>
            <a:stCxn id="11" idx="0"/>
          </p:cNvCxnSpPr>
          <p:nvPr/>
        </p:nvCxnSpPr>
        <p:spPr>
          <a:xfrm flipH="1" flipV="1">
            <a:off x="1193006" y="5128245"/>
            <a:ext cx="88064" cy="276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2" idx="0"/>
          </p:cNvCxnSpPr>
          <p:nvPr/>
        </p:nvCxnSpPr>
        <p:spPr>
          <a:xfrm flipH="1" flipV="1">
            <a:off x="2036419" y="5128245"/>
            <a:ext cx="978522" cy="276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13" idx="0"/>
          </p:cNvCxnSpPr>
          <p:nvPr/>
        </p:nvCxnSpPr>
        <p:spPr>
          <a:xfrm flipH="1" flipV="1">
            <a:off x="3450431" y="5128245"/>
            <a:ext cx="3346330" cy="276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右大括弧 19"/>
          <p:cNvSpPr/>
          <p:nvPr/>
        </p:nvSpPr>
        <p:spPr>
          <a:xfrm>
            <a:off x="6140266" y="1618200"/>
            <a:ext cx="321536" cy="505337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右大括弧 20"/>
          <p:cNvSpPr/>
          <p:nvPr/>
        </p:nvSpPr>
        <p:spPr>
          <a:xfrm>
            <a:off x="6127444" y="2194832"/>
            <a:ext cx="321536" cy="494762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右大括弧 21"/>
          <p:cNvSpPr/>
          <p:nvPr/>
        </p:nvSpPr>
        <p:spPr>
          <a:xfrm>
            <a:off x="6127444" y="2725313"/>
            <a:ext cx="321536" cy="218117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右大括弧 22"/>
          <p:cNvSpPr/>
          <p:nvPr/>
        </p:nvSpPr>
        <p:spPr>
          <a:xfrm>
            <a:off x="6126588" y="3029565"/>
            <a:ext cx="321536" cy="218117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7046793" y="1695017"/>
            <a:ext cx="1194558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System level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7046793" y="2179838"/>
            <a:ext cx="896399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r>
              <a:rPr lang="zh-TW" altLang="en-US" dirty="0" smtClean="0"/>
              <a:t> 周邊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7046793" y="1121520"/>
            <a:ext cx="1075936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Board level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7046793" y="2649705"/>
            <a:ext cx="1107996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製造成本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7040847" y="3079040"/>
            <a:ext cx="1107996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參考報價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0459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Function BOM</a:t>
            </a:r>
            <a:r>
              <a:rPr lang="zh-TW" altLang="en-US" dirty="0" smtClean="0"/>
              <a:t>分類方式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17818" y="1081338"/>
            <a:ext cx="9005352" cy="4790825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TW" sz="2000" dirty="0" smtClean="0"/>
              <a:t>Level:</a:t>
            </a:r>
            <a:r>
              <a:rPr lang="zh-TW" altLang="en-US" sz="2000" dirty="0" smtClean="0"/>
              <a:t> 分</a:t>
            </a:r>
            <a:r>
              <a:rPr lang="en-US" altLang="zh-TW" sz="2000" dirty="0" smtClean="0"/>
              <a:t>Board level </a:t>
            </a:r>
            <a:r>
              <a:rPr lang="en-US" altLang="zh-TW" sz="2000" dirty="0" smtClean="0"/>
              <a:t>, </a:t>
            </a:r>
            <a:r>
              <a:rPr lang="en-US" altLang="zh-TW" sz="2000" dirty="0" smtClean="0"/>
              <a:t>System level </a:t>
            </a:r>
            <a:r>
              <a:rPr lang="zh-TW" altLang="en-US" sz="2000" dirty="0" smtClean="0"/>
              <a:t>與周邊的</a:t>
            </a:r>
            <a:r>
              <a:rPr lang="en-US" altLang="zh-TW" sz="2000" dirty="0" smtClean="0"/>
              <a:t>A0</a:t>
            </a:r>
            <a:r>
              <a:rPr lang="zh-TW" altLang="en-US" sz="2000" dirty="0" smtClean="0"/>
              <a:t>階</a:t>
            </a:r>
            <a:endParaRPr lang="en-US" altLang="zh-TW" sz="2000" dirty="0" smtClean="0"/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TW" sz="2000" dirty="0" smtClean="0"/>
              <a:t>Function</a:t>
            </a:r>
            <a:r>
              <a:rPr lang="en-US" altLang="zh-TW" sz="2000" dirty="0" smtClean="0"/>
              <a:t>: </a:t>
            </a:r>
            <a:endParaRPr lang="en-US" altLang="zh-TW" sz="2000" dirty="0"/>
          </a:p>
          <a:p>
            <a:pPr lvl="1"/>
            <a:r>
              <a:rPr lang="en-US" altLang="zh-TW" sz="1400" dirty="0" smtClean="0"/>
              <a:t>CPU</a:t>
            </a:r>
          </a:p>
          <a:p>
            <a:pPr lvl="1"/>
            <a:r>
              <a:rPr lang="en-US" altLang="zh-TW" sz="1400" dirty="0" smtClean="0"/>
              <a:t>Key </a:t>
            </a:r>
            <a:r>
              <a:rPr lang="en-US" altLang="zh-TW" sz="1400" dirty="0" smtClean="0"/>
              <a:t>IC</a:t>
            </a:r>
            <a:endParaRPr lang="en-US" altLang="zh-TW" sz="1400" dirty="0"/>
          </a:p>
          <a:p>
            <a:pPr lvl="1"/>
            <a:r>
              <a:rPr lang="en-US" altLang="zh-TW" sz="1400" dirty="0"/>
              <a:t>PCB</a:t>
            </a:r>
          </a:p>
          <a:p>
            <a:pPr lvl="1"/>
            <a:r>
              <a:rPr lang="en-US" altLang="zh-TW" sz="1400" dirty="0"/>
              <a:t>I/O(External and Internal )</a:t>
            </a:r>
          </a:p>
          <a:p>
            <a:pPr lvl="1"/>
            <a:r>
              <a:rPr lang="en-US" altLang="zh-TW" sz="1400" dirty="0"/>
              <a:t>Daughter board(</a:t>
            </a:r>
            <a:r>
              <a:rPr lang="zh-TW" altLang="en-US" sz="1400" dirty="0"/>
              <a:t>其他小卡</a:t>
            </a:r>
            <a:r>
              <a:rPr lang="en-US" altLang="zh-TW" sz="1400" dirty="0"/>
              <a:t>)</a:t>
            </a:r>
          </a:p>
          <a:p>
            <a:pPr lvl="1"/>
            <a:r>
              <a:rPr lang="en-US" altLang="zh-TW" sz="1400" dirty="0" smtClean="0"/>
              <a:t>Chassis(</a:t>
            </a:r>
            <a:r>
              <a:rPr lang="zh-TW" altLang="en-US" sz="1400" dirty="0" smtClean="0"/>
              <a:t>包含螺絲，銅柱等相關</a:t>
            </a:r>
            <a:r>
              <a:rPr lang="zh-TW" altLang="en-US" sz="1400" dirty="0"/>
              <a:t>細節，與附屬機構</a:t>
            </a:r>
            <a:r>
              <a:rPr lang="zh-TW" altLang="en-US" sz="1400" dirty="0" smtClean="0"/>
              <a:t>件，比方</a:t>
            </a:r>
            <a:r>
              <a:rPr lang="en-US" altLang="zh-TW" sz="1400" dirty="0" smtClean="0"/>
              <a:t>bracket, Handle, Ear, Robber foot, rail kit ..</a:t>
            </a:r>
            <a:r>
              <a:rPr lang="en-US" altLang="zh-TW" sz="1400" dirty="0" smtClean="0"/>
              <a:t>)</a:t>
            </a:r>
            <a:endParaRPr lang="en-US" altLang="zh-TW" sz="1400" dirty="0"/>
          </a:p>
          <a:p>
            <a:pPr lvl="1"/>
            <a:r>
              <a:rPr lang="en-US" altLang="zh-TW" sz="1400" dirty="0" smtClean="0"/>
              <a:t>Thermal(</a:t>
            </a:r>
            <a:r>
              <a:rPr lang="zh-TW" altLang="en-US" sz="1400" dirty="0" smtClean="0"/>
              <a:t>包含</a:t>
            </a:r>
            <a:r>
              <a:rPr lang="en-US" altLang="zh-TW" sz="1400" dirty="0"/>
              <a:t>H</a:t>
            </a:r>
            <a:r>
              <a:rPr lang="en-US" altLang="zh-TW" sz="1400" dirty="0" smtClean="0"/>
              <a:t>eatsink, Thermal pad, Fan</a:t>
            </a:r>
            <a:r>
              <a:rPr lang="zh-TW" altLang="en-US" sz="1400" dirty="0" smtClean="0"/>
              <a:t>，</a:t>
            </a:r>
            <a:r>
              <a:rPr lang="en-US" altLang="zh-TW" sz="1400" dirty="0" smtClean="0"/>
              <a:t>Fan</a:t>
            </a:r>
            <a:r>
              <a:rPr lang="zh-TW" altLang="en-US" sz="1400" dirty="0"/>
              <a:t> </a:t>
            </a:r>
            <a:r>
              <a:rPr lang="en-US" altLang="zh-TW" sz="1400" dirty="0" smtClean="0"/>
              <a:t>bracket</a:t>
            </a:r>
            <a:r>
              <a:rPr lang="en-US" altLang="zh-TW" sz="1400" dirty="0" smtClean="0"/>
              <a:t>)</a:t>
            </a:r>
            <a:endParaRPr lang="en-US" altLang="zh-TW" sz="1400" dirty="0"/>
          </a:p>
          <a:p>
            <a:pPr lvl="1"/>
            <a:r>
              <a:rPr lang="en-US" altLang="zh-TW" sz="1400" dirty="0"/>
              <a:t>Power supply</a:t>
            </a:r>
          </a:p>
          <a:p>
            <a:pPr lvl="1"/>
            <a:r>
              <a:rPr lang="en-US" altLang="zh-TW" sz="1400" dirty="0"/>
              <a:t>System module(EX: </a:t>
            </a:r>
            <a:r>
              <a:rPr lang="en-US" altLang="zh-TW" sz="1400" dirty="0" smtClean="0"/>
              <a:t>Swappable </a:t>
            </a:r>
            <a:r>
              <a:rPr lang="en-US" altLang="zh-TW" sz="1400" dirty="0"/>
              <a:t>Fan kit, </a:t>
            </a:r>
            <a:r>
              <a:rPr lang="en-US" altLang="zh-TW" sz="1400" dirty="0" smtClean="0"/>
              <a:t>Swappable </a:t>
            </a:r>
            <a:r>
              <a:rPr lang="en-US" altLang="zh-TW" sz="1400" dirty="0" smtClean="0"/>
              <a:t>HDD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tray</a:t>
            </a:r>
            <a:r>
              <a:rPr lang="en-US" altLang="zh-TW" sz="1400" dirty="0" smtClean="0"/>
              <a:t>)</a:t>
            </a:r>
            <a:endParaRPr lang="en-US" altLang="zh-TW" sz="1400" dirty="0"/>
          </a:p>
          <a:p>
            <a:pPr lvl="1"/>
            <a:r>
              <a:rPr lang="en-US" altLang="zh-TW" sz="1400" dirty="0"/>
              <a:t>S</a:t>
            </a:r>
            <a:r>
              <a:rPr lang="en-US" altLang="zh-TW" sz="1400" dirty="0" smtClean="0"/>
              <a:t>ystem </a:t>
            </a:r>
            <a:r>
              <a:rPr lang="en-US" altLang="zh-TW" sz="1400" dirty="0"/>
              <a:t>cable</a:t>
            </a:r>
          </a:p>
          <a:p>
            <a:pPr lvl="1"/>
            <a:r>
              <a:rPr lang="en-US" altLang="zh-TW" sz="1400" dirty="0" smtClean="0"/>
              <a:t>Packing(</a:t>
            </a:r>
            <a:r>
              <a:rPr lang="zh-TW" altLang="en-US" sz="1400" dirty="0" smtClean="0"/>
              <a:t>包含</a:t>
            </a:r>
            <a:r>
              <a:rPr lang="zh-TW" altLang="zh-TW" sz="1400" dirty="0" smtClean="0"/>
              <a:t>包</a:t>
            </a:r>
            <a:r>
              <a:rPr lang="zh-TW" altLang="zh-TW" sz="1400" dirty="0"/>
              <a:t>材</a:t>
            </a:r>
            <a:r>
              <a:rPr lang="zh-TW" altLang="zh-TW" sz="1400" dirty="0" smtClean="0"/>
              <a:t>內</a:t>
            </a:r>
            <a:r>
              <a:rPr lang="zh-TW" altLang="en-US" sz="1400" dirty="0" smtClean="0"/>
              <a:t>的</a:t>
            </a:r>
            <a:r>
              <a:rPr lang="en-US" altLang="zh-TW" sz="1400" dirty="0" smtClean="0"/>
              <a:t>Cable</a:t>
            </a:r>
            <a:r>
              <a:rPr lang="zh-TW" altLang="en-US" sz="1400" dirty="0" smtClean="0"/>
              <a:t>，不包含附屬機構件</a:t>
            </a:r>
            <a:r>
              <a:rPr lang="en-US" altLang="zh-TW" sz="1400" dirty="0" smtClean="0"/>
              <a:t>)</a:t>
            </a:r>
            <a:endParaRPr lang="en-US" altLang="zh-TW" sz="1400" dirty="0"/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TW" sz="2000" dirty="0" smtClean="0"/>
              <a:t>Item</a:t>
            </a:r>
            <a:r>
              <a:rPr lang="en-US" altLang="zh-TW" sz="2000" dirty="0"/>
              <a:t>: </a:t>
            </a:r>
            <a:r>
              <a:rPr lang="zh-TW" altLang="zh-TW" sz="2000" dirty="0"/>
              <a:t>各</a:t>
            </a:r>
            <a:r>
              <a:rPr lang="en-US" altLang="zh-TW" sz="2000" dirty="0"/>
              <a:t>Function </a:t>
            </a:r>
            <a:r>
              <a:rPr lang="zh-TW" altLang="zh-TW" sz="2000" dirty="0"/>
              <a:t>下列出</a:t>
            </a:r>
            <a:r>
              <a:rPr lang="zh-TW" altLang="zh-TW" sz="2000" dirty="0" smtClean="0"/>
              <a:t>每一</a:t>
            </a:r>
            <a:r>
              <a:rPr lang="zh-TW" altLang="en-US" sz="2000" dirty="0" smtClean="0"/>
              <a:t>項的</a:t>
            </a:r>
            <a:r>
              <a:rPr lang="zh-TW" altLang="zh-TW" sz="2000" dirty="0" smtClean="0"/>
              <a:t>品名</a:t>
            </a:r>
            <a:r>
              <a:rPr lang="zh-TW" altLang="en-US" sz="2000" dirty="0"/>
              <a:t>與功能</a:t>
            </a:r>
            <a:endParaRPr lang="en-US" altLang="zh-TW" sz="2000" dirty="0"/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TW" altLang="zh-TW" sz="2000" dirty="0" smtClean="0"/>
              <a:t>其他</a:t>
            </a:r>
            <a:r>
              <a:rPr lang="zh-TW" altLang="en-US" sz="2000" dirty="0" smtClean="0"/>
              <a:t>非屬上述，且</a:t>
            </a:r>
            <a:r>
              <a:rPr lang="zh-TW" altLang="zh-TW" sz="2000" dirty="0" smtClean="0"/>
              <a:t>總</a:t>
            </a:r>
            <a:r>
              <a:rPr lang="zh-TW" altLang="zh-TW" sz="2000" dirty="0"/>
              <a:t>金額</a:t>
            </a:r>
            <a:r>
              <a:rPr lang="en-US" altLang="zh-TW" sz="2000" dirty="0"/>
              <a:t>1USD</a:t>
            </a:r>
            <a:r>
              <a:rPr lang="zh-TW" altLang="zh-TW" sz="2000" dirty="0"/>
              <a:t>以下的零件歸類到</a:t>
            </a:r>
            <a:r>
              <a:rPr lang="en-US" altLang="zh-TW" sz="2000" dirty="0"/>
              <a:t>RBOM (rest </a:t>
            </a:r>
            <a:r>
              <a:rPr lang="en-US" altLang="zh-TW" sz="2000" dirty="0" err="1"/>
              <a:t>bom</a:t>
            </a:r>
            <a:r>
              <a:rPr lang="en-US" altLang="zh-TW" sz="2000" dirty="0"/>
              <a:t>) </a:t>
            </a:r>
            <a:endParaRPr lang="zh-TW" altLang="en-US" sz="2000" dirty="0"/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30768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98" y="1020567"/>
            <a:ext cx="5925279" cy="438459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加減件</a:t>
            </a:r>
            <a:r>
              <a:rPr lang="en-US" altLang="zh-TW" dirty="0"/>
              <a:t>S</a:t>
            </a:r>
            <a:r>
              <a:rPr lang="en-US" altLang="zh-TW" dirty="0" smtClean="0"/>
              <a:t>ummary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7046793" y="1778312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減件</a:t>
            </a:r>
            <a:endParaRPr lang="zh-TW" altLang="en-US" dirty="0"/>
          </a:p>
        </p:txBody>
      </p:sp>
      <p:sp>
        <p:nvSpPr>
          <p:cNvPr id="7" name="右大括弧 6"/>
          <p:cNvSpPr/>
          <p:nvPr/>
        </p:nvSpPr>
        <p:spPr>
          <a:xfrm>
            <a:off x="6536738" y="1527112"/>
            <a:ext cx="321536" cy="856579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7065067" y="2577085"/>
            <a:ext cx="646331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加件</a:t>
            </a:r>
            <a:endParaRPr lang="zh-TW" altLang="en-US" dirty="0"/>
          </a:p>
        </p:txBody>
      </p:sp>
      <p:sp>
        <p:nvSpPr>
          <p:cNvPr id="9" name="右大括弧 8"/>
          <p:cNvSpPr/>
          <p:nvPr/>
        </p:nvSpPr>
        <p:spPr>
          <a:xfrm>
            <a:off x="6532230" y="1335000"/>
            <a:ext cx="321536" cy="137580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716075" y="5405163"/>
            <a:ext cx="1129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Summary 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908708" y="5405163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主 </a:t>
            </a:r>
            <a:r>
              <a:rPr lang="en-US" altLang="zh-TW" dirty="0" smtClean="0"/>
              <a:t>Bare BOM Cost</a:t>
            </a:r>
            <a:r>
              <a:rPr lang="zh-TW" altLang="en-US" dirty="0" smtClean="0"/>
              <a:t>明細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088601" y="540516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加件的成本佐證</a:t>
            </a:r>
            <a:endParaRPr lang="zh-TW" altLang="en-US" dirty="0"/>
          </a:p>
        </p:txBody>
      </p:sp>
      <p:cxnSp>
        <p:nvCxnSpPr>
          <p:cNvPr id="13" name="直線接點 12"/>
          <p:cNvCxnSpPr>
            <a:stCxn id="10" idx="0"/>
          </p:cNvCxnSpPr>
          <p:nvPr/>
        </p:nvCxnSpPr>
        <p:spPr>
          <a:xfrm flipH="1" flipV="1">
            <a:off x="1271588" y="5286375"/>
            <a:ext cx="9482" cy="118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>
            <a:stCxn id="11" idx="0"/>
          </p:cNvCxnSpPr>
          <p:nvPr/>
        </p:nvCxnSpPr>
        <p:spPr>
          <a:xfrm flipH="1" flipV="1">
            <a:off x="2085975" y="5286375"/>
            <a:ext cx="884883" cy="118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12" idx="0"/>
          </p:cNvCxnSpPr>
          <p:nvPr/>
        </p:nvCxnSpPr>
        <p:spPr>
          <a:xfrm flipH="1" flipV="1">
            <a:off x="3357563" y="5286375"/>
            <a:ext cx="2631285" cy="118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右大括弧 15"/>
          <p:cNvSpPr/>
          <p:nvPr/>
        </p:nvSpPr>
        <p:spPr>
          <a:xfrm>
            <a:off x="6550635" y="2436169"/>
            <a:ext cx="321536" cy="735656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7046793" y="1219124"/>
            <a:ext cx="1790875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基礎</a:t>
            </a:r>
            <a:r>
              <a:rPr lang="en-US" altLang="zh-TW" dirty="0" err="1" smtClean="0"/>
              <a:t>BareBOM</a:t>
            </a:r>
            <a:r>
              <a:rPr lang="en-US" altLang="zh-TW" dirty="0" smtClean="0"/>
              <a:t> </a:t>
            </a:r>
            <a:r>
              <a:rPr lang="en-US" altLang="zh-TW" dirty="0" smtClean="0"/>
              <a:t>cost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  <p:sp>
        <p:nvSpPr>
          <p:cNvPr id="18" name="右大括弧 17"/>
          <p:cNvSpPr/>
          <p:nvPr/>
        </p:nvSpPr>
        <p:spPr>
          <a:xfrm>
            <a:off x="6567558" y="3224303"/>
            <a:ext cx="321536" cy="137580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7065067" y="3108427"/>
            <a:ext cx="1107996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TW" altLang="en-US" dirty="0"/>
              <a:t>製造成本</a:t>
            </a:r>
            <a:endParaRPr lang="zh-TW" altLang="en-US" dirty="0"/>
          </a:p>
        </p:txBody>
      </p:sp>
      <p:sp>
        <p:nvSpPr>
          <p:cNvPr id="20" name="右大括弧 19"/>
          <p:cNvSpPr/>
          <p:nvPr/>
        </p:nvSpPr>
        <p:spPr>
          <a:xfrm>
            <a:off x="6571373" y="3550386"/>
            <a:ext cx="321536" cy="212682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7065067" y="3578402"/>
            <a:ext cx="1107996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參考報價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571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06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31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EXCOM">
      <a:majorFont>
        <a:latin typeface="Barlow Condensed SemiBold"/>
        <a:ea typeface="微軟正黑體"/>
        <a:cs typeface=""/>
      </a:majorFont>
      <a:minorFont>
        <a:latin typeface="Barlow Condensed Medium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EXCOM">
      <a:majorFont>
        <a:latin typeface="Barlow Condensed SemiBold"/>
        <a:ea typeface="微軟正黑體"/>
        <a:cs typeface=""/>
      </a:majorFont>
      <a:minorFont>
        <a:latin typeface="Barlow Condensed Medium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1639</TotalTime>
  <Words>318</Words>
  <Application>Microsoft Office PowerPoint</Application>
  <PresentationFormat>自訂</PresentationFormat>
  <Paragraphs>46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7</vt:i4>
      </vt:variant>
    </vt:vector>
  </HeadingPairs>
  <TitlesOfParts>
    <vt:vector size="18" baseType="lpstr">
      <vt:lpstr>Barlow Condensed SemiBold</vt:lpstr>
      <vt:lpstr>Calibri</vt:lpstr>
      <vt:lpstr>新細明體</vt:lpstr>
      <vt:lpstr>Arial</vt:lpstr>
      <vt:lpstr>Wingdings</vt:lpstr>
      <vt:lpstr>微軟正黑體</vt:lpstr>
      <vt:lpstr>Bahnschrift SemiBold SemiConden</vt:lpstr>
      <vt:lpstr>Barlow Condensed Medium</vt:lpstr>
      <vt:lpstr>Bahnschrift Light SemiCondensed</vt:lpstr>
      <vt:lpstr>Office 佈景主題</vt:lpstr>
      <vt:lpstr>1_Office 佈景主題</vt:lpstr>
      <vt:lpstr>ODM與客製成本評估格式</vt:lpstr>
      <vt:lpstr>使用原則</vt:lpstr>
      <vt:lpstr>Function BOM Summary </vt:lpstr>
      <vt:lpstr>Function BOM分類方式</vt:lpstr>
      <vt:lpstr>加減件Summary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Licca Chuang[莊佳怡]</dc:creator>
  <cp:lastModifiedBy>Jack Chen[陳世峯]</cp:lastModifiedBy>
  <cp:revision>186</cp:revision>
  <dcterms:created xsi:type="dcterms:W3CDTF">2021-03-25T08:36:11Z</dcterms:created>
  <dcterms:modified xsi:type="dcterms:W3CDTF">2022-03-11T11:19:40Z</dcterms:modified>
</cp:coreProperties>
</file>