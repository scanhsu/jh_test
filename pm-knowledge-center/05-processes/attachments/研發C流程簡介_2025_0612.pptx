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  <p:sldMasterId id="2147483853" r:id="rId2"/>
  </p:sldMasterIdLst>
  <p:notesMasterIdLst>
    <p:notesMasterId r:id="rId29"/>
  </p:notesMasterIdLst>
  <p:handoutMasterIdLst>
    <p:handoutMasterId r:id="rId30"/>
  </p:handoutMasterIdLst>
  <p:sldIdLst>
    <p:sldId id="256" r:id="rId3"/>
    <p:sldId id="259" r:id="rId4"/>
    <p:sldId id="278" r:id="rId5"/>
    <p:sldId id="260" r:id="rId6"/>
    <p:sldId id="261" r:id="rId7"/>
    <p:sldId id="270" r:id="rId8"/>
    <p:sldId id="262" r:id="rId9"/>
    <p:sldId id="263" r:id="rId10"/>
    <p:sldId id="277" r:id="rId11"/>
    <p:sldId id="264" r:id="rId12"/>
    <p:sldId id="271" r:id="rId13"/>
    <p:sldId id="279" r:id="rId14"/>
    <p:sldId id="265" r:id="rId15"/>
    <p:sldId id="272" r:id="rId16"/>
    <p:sldId id="273" r:id="rId17"/>
    <p:sldId id="280" r:id="rId18"/>
    <p:sldId id="283" r:id="rId19"/>
    <p:sldId id="282" r:id="rId20"/>
    <p:sldId id="266" r:id="rId21"/>
    <p:sldId id="274" r:id="rId22"/>
    <p:sldId id="275" r:id="rId23"/>
    <p:sldId id="281" r:id="rId24"/>
    <p:sldId id="267" r:id="rId25"/>
    <p:sldId id="276" r:id="rId26"/>
    <p:sldId id="268" r:id="rId27"/>
    <p:sldId id="284" r:id="rId28"/>
  </p:sldIdLst>
  <p:sldSz cx="9144000" cy="6858000" type="screen4x3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333399"/>
    <a:srgbClr val="303030"/>
    <a:srgbClr val="003366"/>
    <a:srgbClr val="669BC6"/>
    <a:srgbClr val="93CEE1"/>
    <a:srgbClr val="5AA1D2"/>
    <a:srgbClr val="FF9966"/>
    <a:srgbClr val="9900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5" autoAdjust="0"/>
    <p:restoredTop sz="94630" autoAdjust="0"/>
  </p:normalViewPr>
  <p:slideViewPr>
    <p:cSldViewPr>
      <p:cViewPr varScale="1">
        <p:scale>
          <a:sx n="63" d="100"/>
          <a:sy n="63" d="100"/>
        </p:scale>
        <p:origin x="152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922" y="-8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6E5C5FEB-A3C5-42AC-AE45-D486EC0C055A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419F81E2-7351-4FCB-8941-A0854D6566D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8368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E802C485-5520-4E54-939A-60559076B6F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5460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8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>
              <a:latin typeface="Arial" charset="0"/>
              <a:ea typeface="新細明體" charset="-120"/>
            </a:endParaRPr>
          </a:p>
        </p:txBody>
      </p:sp>
      <p:sp>
        <p:nvSpPr>
          <p:cNvPr id="29699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412048-A4D7-430F-975D-6467D1FB5B34}" type="slidenum">
              <a:rPr lang="en-US" altLang="zh-TW" smtClean="0">
                <a:latin typeface="Arial" charset="0"/>
                <a:ea typeface="新細明體" charset="-120"/>
              </a:rPr>
              <a:pPr/>
              <a:t>1</a:t>
            </a:fld>
            <a:endParaRPr lang="en-US" altLang="zh-TW">
              <a:latin typeface="Arial" charset="0"/>
              <a:ea typeface="新細明體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88D42-9BC5-4E2E-A1DB-B588F53CCA70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DEFCC-4EF9-43A2-9C60-07034E7F1A0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2847D-8F1C-4327-8B00-2262366F19B8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E8D32-4FF0-4918-836D-2605E62CAF3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83FC0A-0405-4076-BADF-F36F34BC9290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772DC-A203-45FC-BFA0-7096A43FFED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47016-D55C-47AC-A847-5B16757CF9F4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0A213-9A84-43C4-A775-4A66C7DF59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6D367B-2606-4241-A2E4-A79B151781B3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70426B-4960-4215-BF82-18EB7C54AA0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C18D40-59A0-404A-94B9-121C801C1828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AFFC0-E935-4397-81B4-5BA6ED96A70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F67B1B-0B3D-45A1-AB4C-56C632F89115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380132-5F00-40B8-A70C-D74FEAC62E4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4632F-9C6A-4AF5-9816-14872F095862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96CEE-1DB1-41F4-B6A1-270C7E7996B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1838D0-1F2D-438E-B92C-D8F230AA1723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60D62-26F9-4B15-86AA-60CC65F677D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86FEB-AA85-4F47-8690-6A2CFACAF1FC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D5ED44-7E22-4AA3-8594-01184E805DD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71E9BD-1C7A-4990-BD03-9FD7813C3EB6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AF26-BC25-468C-B15A-821CDE20A9F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BAD236-C30B-4BCF-B75A-2F718D0F85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1080000"/>
            <a:ext cx="4563000" cy="770400"/>
          </a:xfrm>
        </p:spPr>
        <p:txBody>
          <a:bodyPr anchor="ctr">
            <a:noAutofit/>
          </a:bodyPr>
          <a:lstStyle>
            <a:lvl1pPr algn="l">
              <a:defRPr sz="3300"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1E460CB-AB83-4D37-88E0-FFB980EA70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2052000"/>
            <a:ext cx="4563000" cy="432000"/>
          </a:xfrm>
        </p:spPr>
        <p:txBody>
          <a:bodyPr anchor="ctr"/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5DDD96A-7F44-42DB-8A5A-B7F0279713F2}"/>
              </a:ext>
            </a:extLst>
          </p:cNvPr>
          <p:cNvSpPr txBox="1"/>
          <p:nvPr/>
        </p:nvSpPr>
        <p:spPr>
          <a:xfrm>
            <a:off x="432000" y="6423496"/>
            <a:ext cx="3097309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675" dirty="0">
                <a:solidFill>
                  <a:schemeClr val="tx2"/>
                </a:solidFill>
              </a:rPr>
              <a:t>© 2025, NEXCOM International Co., Ltd. or its Affiliates. All rights reserved.</a:t>
            </a:r>
            <a:endParaRPr lang="zh-TW" altLang="en-US" sz="675" dirty="0">
              <a:solidFill>
                <a:schemeClr val="tx2"/>
              </a:solidFill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A7F235EA-F338-4F19-99F3-C42B728342E6}"/>
              </a:ext>
            </a:extLst>
          </p:cNvPr>
          <p:cNvSpPr txBox="1">
            <a:spLocks/>
          </p:cNvSpPr>
          <p:nvPr/>
        </p:nvSpPr>
        <p:spPr>
          <a:xfrm>
            <a:off x="540000" y="4169897"/>
            <a:ext cx="3572059" cy="41992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標準系統字體"/>
              <a:buNone/>
              <a:defRPr sz="2400" kern="1200">
                <a:solidFill>
                  <a:srgbClr val="C9CACA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標準系統字體"/>
              <a:buNone/>
              <a:defRPr sz="2000" kern="1200">
                <a:solidFill>
                  <a:srgbClr val="C9CACA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標準系統字體"/>
              <a:buNone/>
              <a:defRPr sz="1800" kern="1200">
                <a:solidFill>
                  <a:srgbClr val="C9CACA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標準系統字體"/>
              <a:buNone/>
              <a:defRPr sz="1600" kern="1200">
                <a:solidFill>
                  <a:srgbClr val="C9CACA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標準系統字體"/>
              <a:buNone/>
              <a:defRPr sz="1600" kern="1200">
                <a:solidFill>
                  <a:srgbClr val="C9CACA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F1F378-5F9B-3044-9B78-8CCFC5158B9D}" type="datetime1">
              <a:rPr kumimoji="1" lang="zh-TW" altLang="en-US" sz="1350" smtClean="0">
                <a:solidFill>
                  <a:schemeClr val="tx2"/>
                </a:solidFill>
              </a:rPr>
              <a:pPr/>
              <a:t>2025/6/12</a:t>
            </a:fld>
            <a:endParaRPr kumimoji="1" lang="zh-TW" altLang="en-US" sz="1350" dirty="0">
              <a:solidFill>
                <a:schemeClr val="tx2"/>
              </a:solidFill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4EF8C38-89CB-4C20-A6F6-1A39413D3B2A}"/>
              </a:ext>
            </a:extLst>
          </p:cNvPr>
          <p:cNvCxnSpPr/>
          <p:nvPr/>
        </p:nvCxnSpPr>
        <p:spPr>
          <a:xfrm flipH="1">
            <a:off x="538860" y="1953913"/>
            <a:ext cx="5010706" cy="0"/>
          </a:xfrm>
          <a:prstGeom prst="line">
            <a:avLst/>
          </a:prstGeom>
          <a:ln w="25400">
            <a:gradFill flip="none" rotWithShape="1">
              <a:gsLst>
                <a:gs pos="27000">
                  <a:srgbClr val="2E5870">
                    <a:alpha val="0"/>
                  </a:srgbClr>
                </a:gs>
                <a:gs pos="100000">
                  <a:srgbClr val="2E5870"/>
                </a:gs>
              </a:gsLst>
              <a:lin ang="2700000" scaled="1"/>
              <a:tileRect/>
            </a:gra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9" name="圖形 8">
            <a:extLst>
              <a:ext uri="{FF2B5EF4-FFF2-40B4-BE49-F238E27FC236}">
                <a16:creationId xmlns:a16="http://schemas.microsoft.com/office/drawing/2014/main" id="{CBE84A95-612E-4895-9379-F0E803A865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020000" y="468000"/>
            <a:ext cx="1684800" cy="633600"/>
          </a:xfrm>
          <a:prstGeom prst="rect">
            <a:avLst/>
          </a:prstGeom>
        </p:spPr>
      </p:pic>
      <p:sp>
        <p:nvSpPr>
          <p:cNvPr id="12" name="內容版面配置區 35">
            <a:extLst>
              <a:ext uri="{FF2B5EF4-FFF2-40B4-BE49-F238E27FC236}">
                <a16:creationId xmlns:a16="http://schemas.microsoft.com/office/drawing/2014/main" id="{5F0FB8E5-FCB3-4AEC-BB83-674F44E0DB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5956" y="3338425"/>
            <a:ext cx="3572060" cy="738188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zh-TW" dirty="0"/>
              <a:t>Name | Title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1524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4E7540-8B6B-4F40-B713-2F3AB9D59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8000" y="1894236"/>
            <a:ext cx="2052000" cy="2806152"/>
          </a:xfrm>
        </p:spPr>
        <p:txBody>
          <a:bodyPr/>
          <a:lstStyle>
            <a:lvl1pPr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EC67CA-FC80-4917-82D8-5CF0D740F5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2000" y="1224000"/>
            <a:ext cx="3834000" cy="432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 marL="685800" indent="0">
              <a:buNone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956F6412-3E74-4A61-A259-1D689ADE72A1}"/>
              </a:ext>
            </a:extLst>
          </p:cNvPr>
          <p:cNvCxnSpPr/>
          <p:nvPr/>
        </p:nvCxnSpPr>
        <p:spPr>
          <a:xfrm flipH="1">
            <a:off x="4250154" y="1467854"/>
            <a:ext cx="9025" cy="3658919"/>
          </a:xfrm>
          <a:prstGeom prst="line">
            <a:avLst/>
          </a:prstGeom>
          <a:ln w="15875">
            <a:gradFill>
              <a:gsLst>
                <a:gs pos="0">
                  <a:srgbClr val="2E5870">
                    <a:alpha val="0"/>
                  </a:srgbClr>
                </a:gs>
                <a:gs pos="53000">
                  <a:srgbClr val="2E5870"/>
                </a:gs>
                <a:gs pos="100000">
                  <a:srgbClr val="2E587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形 11">
            <a:extLst>
              <a:ext uri="{FF2B5EF4-FFF2-40B4-BE49-F238E27FC236}">
                <a16:creationId xmlns:a16="http://schemas.microsoft.com/office/drawing/2014/main" id="{EBE56B94-D5C7-49B8-B35F-73ADF278E1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289000" y="252000"/>
            <a:ext cx="631800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88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84D0C-B2B8-4A5B-93C3-698560C4E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2000" y="2664000"/>
            <a:ext cx="4320000" cy="792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05232EE5-EB16-498E-AB9B-9533A8EABEA5}"/>
              </a:ext>
            </a:extLst>
          </p:cNvPr>
          <p:cNvCxnSpPr/>
          <p:nvPr/>
        </p:nvCxnSpPr>
        <p:spPr>
          <a:xfrm rot="5400000" flipH="1">
            <a:off x="4539068" y="2201946"/>
            <a:ext cx="12033" cy="2744189"/>
          </a:xfrm>
          <a:prstGeom prst="line">
            <a:avLst/>
          </a:prstGeom>
          <a:ln w="15875">
            <a:gradFill>
              <a:gsLst>
                <a:gs pos="0">
                  <a:srgbClr val="2E5870">
                    <a:alpha val="0"/>
                  </a:srgbClr>
                </a:gs>
                <a:gs pos="53000">
                  <a:srgbClr val="2E5870"/>
                </a:gs>
                <a:gs pos="100000">
                  <a:srgbClr val="2E5870">
                    <a:alpha val="0"/>
                  </a:srgbClr>
                </a:gs>
              </a:gsLst>
              <a:lin ang="5400000" scaled="1"/>
            </a:gradFill>
          </a:ln>
          <a:effectLst>
            <a:outerShdw blurRad="50800" dist="508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形 5">
            <a:extLst>
              <a:ext uri="{FF2B5EF4-FFF2-40B4-BE49-F238E27FC236}">
                <a16:creationId xmlns:a16="http://schemas.microsoft.com/office/drawing/2014/main" id="{5AA47BFB-A79C-42E5-9403-F151D827A8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289000" y="252000"/>
            <a:ext cx="631800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52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4E7540-8B6B-4F40-B713-2F3AB9D59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EC67CA-FC80-4917-82D8-5CF0D740F5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 marL="1028700" indent="0">
              <a:buNone/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6F2B41-340F-47CF-A07C-A96F1E2C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C743-DB37-47C7-AC65-26D098D53D51}" type="datetimeFigureOut">
              <a:rPr lang="zh-TW" altLang="en-US" smtClean="0"/>
              <a:t>2025/6/12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D8FEE6-1030-4075-85AE-DE0BBE08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EBE2E5-8FF1-4D8C-8E99-6B2B0BB3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C7BF-CC0B-42E1-AD83-BB8A938FE96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DC6582D8-260F-4313-B231-620F052EC3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89000" y="252000"/>
            <a:ext cx="631800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79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_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4E7540-8B6B-4F40-B713-2F3AB9D59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EC67CA-FC80-4917-82D8-5CF0D740F5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 marL="1028700" indent="0">
              <a:buNone/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6F2B41-340F-47CF-A07C-A96F1E2C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C743-DB37-47C7-AC65-26D098D53D51}" type="datetimeFigureOut">
              <a:rPr lang="zh-TW" altLang="en-US" smtClean="0"/>
              <a:t>2025/6/12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D8FEE6-1030-4075-85AE-DE0BBE08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EBE2E5-8FF1-4D8C-8E99-6B2B0BB3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C7BF-CC0B-42E1-AD83-BB8A938FE96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713F49CF-7B3C-400F-BD4A-D88ABCDAA0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289000" y="252000"/>
            <a:ext cx="631800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74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1A4899-7F3B-4BB7-9510-AF1402ED68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16D021-87CE-4DB8-886E-7AA1AE9D484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825625"/>
            <a:ext cx="408285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43F4BF-73D8-465C-80AE-CCF3FD91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C743-DB37-47C7-AC65-26D098D53D51}" type="datetimeFigureOut">
              <a:rPr lang="zh-TW" altLang="en-US" smtClean="0"/>
              <a:t>2025/6/12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0B31EA-D734-43C9-8E9D-483C1BF81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07C61C-5A28-4110-8C44-F3D6F9B7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C7BF-CC0B-42E1-AD83-BB8A938FE96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6DD8BD-A370-41D3-8CE2-2E4FD8AE09F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629150" y="1825625"/>
            <a:ext cx="408285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id="{A27F252D-A205-440D-8F41-E7E8CB0C16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89000" y="252000"/>
            <a:ext cx="631800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82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 Contents_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1A4899-7F3B-4BB7-9510-AF1402ED68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16D021-87CE-4DB8-886E-7AA1AE9D484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825625"/>
            <a:ext cx="408285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43F4BF-73D8-465C-80AE-CCF3FD91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C743-DB37-47C7-AC65-26D098D53D51}" type="datetimeFigureOut">
              <a:rPr lang="zh-TW" altLang="en-US" smtClean="0"/>
              <a:t>2025/6/12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0B31EA-D734-43C9-8E9D-483C1BF81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07C61C-5A28-4110-8C44-F3D6F9B7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C7BF-CC0B-42E1-AD83-BB8A938FE96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6DD8BD-A370-41D3-8CE2-2E4FD8AE09F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629150" y="1825625"/>
            <a:ext cx="408285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id="{BAF52EB3-9EE2-45D4-AB3E-6E88E33E2D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289000" y="252000"/>
            <a:ext cx="631800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4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84D0C-B2B8-4A5B-93C3-698560C4E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0894500-95CE-4CD5-B771-2177F701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C743-DB37-47C7-AC65-26D098D53D51}" type="datetimeFigureOut">
              <a:rPr lang="zh-TW" altLang="en-US" smtClean="0"/>
              <a:t>2025/6/12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52AA0B-75AD-4155-A002-E37D8ACE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D78475C-989F-4613-AFD2-92E04339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C7BF-CC0B-42E1-AD83-BB8A938FE96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A5EA490E-A98D-49DF-BEF6-A780FCC541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89000" y="252000"/>
            <a:ext cx="631800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9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84D0C-B2B8-4A5B-93C3-698560C4E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0894500-95CE-4CD5-B771-2177F701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C743-DB37-47C7-AC65-26D098D53D51}" type="datetimeFigureOut">
              <a:rPr lang="zh-TW" altLang="en-US" smtClean="0"/>
              <a:t>2025/6/12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52AA0B-75AD-4155-A002-E37D8ACE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D78475C-989F-4613-AFD2-92E04339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C7BF-CC0B-42E1-AD83-BB8A938FE96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1CB22B89-457B-413F-8E5F-010E9F0161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289000" y="252000"/>
            <a:ext cx="631800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61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9D0C4C5-2499-412A-92B3-F1739773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C743-DB37-47C7-AC65-26D098D53D51}" type="datetimeFigureOut">
              <a:rPr lang="zh-TW" altLang="en-US" smtClean="0"/>
              <a:t>2025/6/12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74F9E7-6682-4DFE-8905-28E259E0C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A7E2F-FF67-4F46-851C-AB767A2E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C7BF-CC0B-42E1-AD83-BB8A938FE96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F9C9E478-95E5-4C74-AFB4-E0F73B203E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89000" y="252000"/>
            <a:ext cx="631800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597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9D0C4C5-2499-412A-92B3-F1739773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C743-DB37-47C7-AC65-26D098D53D51}" type="datetimeFigureOut">
              <a:rPr lang="zh-TW" altLang="en-US" smtClean="0"/>
              <a:t>2025/6/12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74F9E7-6682-4DFE-8905-28E259E0C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A7E2F-FF67-4F46-851C-AB767A2E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C7BF-CC0B-42E1-AD83-BB8A938FE96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EDFAA44E-7A56-4378-9715-FEE733686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289000" y="252000"/>
            <a:ext cx="631800" cy="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5761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ck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84D0C-B2B8-4A5B-93C3-698560C4E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0500" y="2772000"/>
            <a:ext cx="3564000" cy="1512000"/>
          </a:xfrm>
        </p:spPr>
        <p:txBody>
          <a:bodyPr/>
          <a:lstStyle>
            <a:lvl1pPr>
              <a:defRPr>
                <a:solidFill>
                  <a:srgbClr val="375267"/>
                </a:solidFill>
              </a:defRPr>
            </a:lvl1pPr>
          </a:lstStyle>
          <a:p>
            <a:r>
              <a:rPr lang="en-US" altLang="zh-TW" dirty="0"/>
              <a:t>Call to Actions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E2BD011-FD97-4F28-9C05-52A845D2B23F}"/>
              </a:ext>
            </a:extLst>
          </p:cNvPr>
          <p:cNvSpPr txBox="1"/>
          <p:nvPr/>
        </p:nvSpPr>
        <p:spPr>
          <a:xfrm>
            <a:off x="432000" y="6423496"/>
            <a:ext cx="3097309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675" dirty="0">
                <a:solidFill>
                  <a:schemeClr val="tx2"/>
                </a:solidFill>
              </a:rPr>
              <a:t>© 2025, NEXCOM International Co., Ltd. or its Affiliates. All rights reserved.</a:t>
            </a:r>
            <a:endParaRPr lang="zh-TW" altLang="en-US" sz="675" dirty="0">
              <a:solidFill>
                <a:schemeClr val="tx2"/>
              </a:solidFill>
            </a:endParaRPr>
          </a:p>
        </p:txBody>
      </p:sp>
      <p:cxnSp>
        <p:nvCxnSpPr>
          <p:cNvPr id="5" name="直線接點 10">
            <a:extLst>
              <a:ext uri="{FF2B5EF4-FFF2-40B4-BE49-F238E27FC236}">
                <a16:creationId xmlns:a16="http://schemas.microsoft.com/office/drawing/2014/main" id="{91680CD3-4947-4FB7-8F59-15E17E695E60}"/>
              </a:ext>
            </a:extLst>
          </p:cNvPr>
          <p:cNvCxnSpPr/>
          <p:nvPr/>
        </p:nvCxnSpPr>
        <p:spPr>
          <a:xfrm>
            <a:off x="3240000" y="3077487"/>
            <a:ext cx="0" cy="878305"/>
          </a:xfrm>
          <a:prstGeom prst="line">
            <a:avLst/>
          </a:prstGeom>
          <a:ln w="19050">
            <a:gradFill>
              <a:gsLst>
                <a:gs pos="0">
                  <a:srgbClr val="2E5870">
                    <a:alpha val="0"/>
                  </a:srgbClr>
                </a:gs>
                <a:gs pos="95798">
                  <a:srgbClr val="2E5870">
                    <a:alpha val="0"/>
                  </a:srgbClr>
                </a:gs>
                <a:gs pos="51000">
                  <a:srgbClr val="2E587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形 7">
            <a:extLst>
              <a:ext uri="{FF2B5EF4-FFF2-40B4-BE49-F238E27FC236}">
                <a16:creationId xmlns:a16="http://schemas.microsoft.com/office/drawing/2014/main" id="{6B9FD613-2FDB-404F-B131-B7D7A3853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10000" y="3038096"/>
            <a:ext cx="2116800" cy="79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0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640"/>
            <a:ext cx="8229600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365C845E-7B58-466E-A0FC-9BE7A5A691BB}" type="datetimeFigureOut">
              <a:rPr lang="zh-TW" altLang="en-US"/>
              <a:pPr>
                <a:defRPr/>
              </a:pPr>
              <a:t>2025/6/12</a:t>
            </a:fld>
            <a:endParaRPr lang="en-US" altLang="zh-TW"/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4B0E4765-98D7-4582-8934-9651C128F98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B3FE348-CF9D-4009-885F-2F373E1B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65125"/>
            <a:ext cx="71550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480AD6-59B7-4043-9958-AE51313A6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825625"/>
            <a:ext cx="8083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  <a:p>
            <a:pPr lvl="3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L4</a:t>
            </a:r>
            <a:endParaRPr lang="zh-TW" altLang="en-US" dirty="0"/>
          </a:p>
          <a:p>
            <a:pPr lvl="4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L5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E49D63-3C49-4856-82AE-E3CBD08D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4BF3C743-DB37-47C7-AC65-26D098D53D51}" type="datetimeFigureOut">
              <a:rPr lang="zh-TW" altLang="en-US" smtClean="0"/>
              <a:pPr/>
              <a:t>2025/6/12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764234-9790-4AE4-A891-86C3660B2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765375-5111-4564-9F03-90A187A04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0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DA71C7BF-CC0B-42E1-AD83-BB8A938FE962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9020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spcAft>
          <a:spcPts val="900"/>
        </a:spcAft>
        <a:buFont typeface="Roboto Light" panose="02000000000000000000" pitchFamily="2" charset="0"/>
        <a:buChar char="‑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450"/>
        </a:spcAft>
        <a:buFont typeface="Roboto Light" panose="02000000000000000000" pitchFamily="2" charset="0"/>
        <a:buChar char="‑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450"/>
        </a:spcAft>
        <a:buFont typeface="Roboto Light" panose="02000000000000000000" pitchFamily="2" charset="0"/>
        <a:buChar char="‑"/>
        <a:defRPr sz="15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450"/>
        </a:spcAft>
        <a:buFont typeface="Roboto Light" panose="02000000000000000000" pitchFamily="2" charset="0"/>
        <a:buChar char="‑"/>
        <a:defRPr sz="1350" kern="1200">
          <a:solidFill>
            <a:schemeClr val="accent3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Roboto Light" panose="02000000000000000000" pitchFamily="2" charset="0"/>
        <a:buChar char="‑"/>
        <a:defRPr sz="135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47">
          <p15:clr>
            <a:srgbClr val="F26B43"/>
          </p15:clr>
        </p15:guide>
        <p15:guide id="4" pos="7333">
          <p15:clr>
            <a:srgbClr val="F26B43"/>
          </p15:clr>
        </p15:guide>
        <p15:guide id="5" orient="horz" pos="3906">
          <p15:clr>
            <a:srgbClr val="F26B43"/>
          </p15:clr>
        </p15:guide>
        <p15:guide id="6" orient="horz" pos="95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&#30740;&#30332;&#27969;&#31243;-&#31243;&#24207;&#26360;/Q410-000%20&#35373;&#35336;&#65295;&#38283;&#30332;&#31649;&#21046;&#31243;&#24207;-U&#29256;.doc" TargetMode="Externa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&#30740;&#30332;&#27969;&#31243;-&#31243;&#24207;&#26360;/Q410000-11AB%20&#25216;&#34899;&#31227;&#36681;&#38542;&#27573;&#27298;&#26680;&#34920;.doc" TargetMode="Externa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400" dirty="0">
                <a:solidFill>
                  <a:srgbClr val="303030"/>
                </a:solidFill>
                <a:latin typeface="Calibri" pitchFamily="34" charset="0"/>
              </a:rPr>
              <a:t>研發</a:t>
            </a:r>
            <a:r>
              <a:rPr lang="en-US" altLang="zh-TW" sz="4400" dirty="0">
                <a:solidFill>
                  <a:srgbClr val="303030"/>
                </a:solidFill>
                <a:latin typeface="Calibri" pitchFamily="34" charset="0"/>
              </a:rPr>
              <a:t>C</a:t>
            </a:r>
            <a:r>
              <a:rPr lang="zh-TW" altLang="en-US" sz="4400" dirty="0">
                <a:solidFill>
                  <a:srgbClr val="303030"/>
                </a:solidFill>
                <a:latin typeface="Calibri" pitchFamily="34" charset="0"/>
              </a:rPr>
              <a:t>流程簡介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TW" dirty="0" smtClean="0"/>
              <a:t>Jason Huang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200" dirty="0"/>
              <a:t>專案管理</a:t>
            </a:r>
            <a:r>
              <a:rPr lang="en-US" altLang="zh-TW" sz="3200" dirty="0"/>
              <a:t>5</a:t>
            </a:r>
            <a:r>
              <a:rPr lang="zh-TW" altLang="en-US" sz="3200" dirty="0"/>
              <a:t>大流程 </a:t>
            </a:r>
            <a:r>
              <a:rPr lang="en-US" altLang="zh-TW" sz="3200" dirty="0" err="1"/>
              <a:t>vs</a:t>
            </a:r>
            <a:r>
              <a:rPr lang="en-US" altLang="zh-TW" sz="3200" dirty="0"/>
              <a:t> </a:t>
            </a:r>
            <a:r>
              <a:rPr lang="en-US" altLang="zh-TW" sz="3200" dirty="0" err="1"/>
              <a:t>Nexcom</a:t>
            </a:r>
            <a:r>
              <a:rPr lang="en-US" altLang="zh-TW" sz="3200" dirty="0"/>
              <a:t> </a:t>
            </a:r>
            <a:r>
              <a:rPr lang="zh-TW" altLang="en-US" sz="3200" dirty="0"/>
              <a:t>研發流程</a:t>
            </a:r>
          </a:p>
        </p:txBody>
      </p:sp>
      <p:sp>
        <p:nvSpPr>
          <p:cNvPr id="5" name="AutoShape 9"/>
          <p:cNvSpPr>
            <a:spLocks noChangeArrowheads="1"/>
          </p:cNvSpPr>
          <p:nvPr/>
        </p:nvSpPr>
        <p:spPr bwMode="auto">
          <a:xfrm>
            <a:off x="4284663" y="3068861"/>
            <a:ext cx="2520950" cy="158432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zh-TW" sz="1400">
                <a:solidFill>
                  <a:srgbClr val="FF0000"/>
                </a:solidFill>
              </a:rPr>
              <a:t>Monitoring &amp; Controlling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25166"/>
            <a:ext cx="8569325" cy="165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684213" y="3429223"/>
            <a:ext cx="1655762" cy="1152525"/>
          </a:xfrm>
          <a:prstGeom prst="rightArrow">
            <a:avLst>
              <a:gd name="adj1" fmla="val 50000"/>
              <a:gd name="adj2" fmla="val 35916"/>
            </a:avLst>
          </a:prstGeom>
          <a:solidFill>
            <a:schemeClr val="accent1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/>
              <a:t>NPP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2339975" y="3429223"/>
            <a:ext cx="2160588" cy="1152525"/>
          </a:xfrm>
          <a:prstGeom prst="rightArrow">
            <a:avLst>
              <a:gd name="adj1" fmla="val 50000"/>
              <a:gd name="adj2" fmla="val 46866"/>
            </a:avLst>
          </a:prstGeom>
          <a:solidFill>
            <a:schemeClr val="accent1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400"/>
              <a:t>Planning Stage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4500563" y="3429223"/>
            <a:ext cx="2232025" cy="1152525"/>
          </a:xfrm>
          <a:prstGeom prst="rightArrow">
            <a:avLst>
              <a:gd name="adj1" fmla="val 50000"/>
              <a:gd name="adj2" fmla="val 48416"/>
            </a:avLst>
          </a:prstGeom>
          <a:solidFill>
            <a:schemeClr val="accent1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/>
              <a:t>C0~C5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6732588" y="3429223"/>
            <a:ext cx="1655762" cy="1152525"/>
          </a:xfrm>
          <a:prstGeom prst="rightArrow">
            <a:avLst>
              <a:gd name="adj1" fmla="val 50000"/>
              <a:gd name="adj2" fmla="val 35916"/>
            </a:avLst>
          </a:prstGeom>
          <a:solidFill>
            <a:schemeClr val="accent1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/>
              <a:t>Close Meeting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11188" y="4707161"/>
            <a:ext cx="165735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zh-TW" altLang="en-US" sz="1200"/>
              <a:t>客戶需求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1200"/>
              <a:t>Chipset Roadmap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TW" altLang="en-US" sz="1200"/>
              <a:t>技術創新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TW" altLang="en-US" sz="1200"/>
              <a:t>上級主管策略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339975" y="4688111"/>
            <a:ext cx="2087563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zh-TW" altLang="en-US" sz="1200"/>
              <a:t>將商業需求轉為內部規格</a:t>
            </a:r>
            <a:r>
              <a:rPr lang="en-US" altLang="zh-TW" sz="1200"/>
              <a:t>-SOW/PSD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TW" altLang="en-US" sz="1200"/>
              <a:t>將</a:t>
            </a:r>
            <a:r>
              <a:rPr lang="en-US" altLang="zh-TW" sz="1200"/>
              <a:t>Milestone</a:t>
            </a:r>
            <a:r>
              <a:rPr lang="zh-TW" altLang="en-US" sz="1200"/>
              <a:t>轉為細部</a:t>
            </a:r>
            <a:r>
              <a:rPr lang="en-US" altLang="zh-TW" sz="1200"/>
              <a:t>Schedule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TW" altLang="en-US" sz="1200"/>
              <a:t>召集</a:t>
            </a:r>
            <a:r>
              <a:rPr lang="en-US" altLang="zh-TW" sz="1200"/>
              <a:t>Project team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1200">
                <a:solidFill>
                  <a:srgbClr val="FF0000"/>
                </a:solidFill>
              </a:rPr>
              <a:t>Pre-Kick Off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4427538" y="4653186"/>
            <a:ext cx="252072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1200" dirty="0"/>
              <a:t>C0</a:t>
            </a:r>
            <a:r>
              <a:rPr lang="zh-TW" altLang="zh-TW" sz="1200" dirty="0"/>
              <a:t>產品規格要求階段</a:t>
            </a:r>
            <a:r>
              <a:rPr lang="en-US" altLang="zh-TW" sz="1200" dirty="0">
                <a:solidFill>
                  <a:srgbClr val="FF0000"/>
                </a:solidFill>
              </a:rPr>
              <a:t>(Kick Off)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1200" dirty="0"/>
              <a:t>C1</a:t>
            </a:r>
            <a:r>
              <a:rPr lang="zh-TW" altLang="zh-TW" sz="1200" dirty="0"/>
              <a:t>設計規劃階段</a:t>
            </a:r>
            <a:endParaRPr lang="en-US" altLang="zh-TW" sz="1200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1200" dirty="0"/>
              <a:t>C2</a:t>
            </a:r>
            <a:r>
              <a:rPr lang="zh-TW" altLang="en-US" sz="1200" dirty="0"/>
              <a:t>產品設計階段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1200" dirty="0"/>
              <a:t>C3</a:t>
            </a:r>
            <a:r>
              <a:rPr lang="zh-TW" altLang="en-US" sz="1200" dirty="0"/>
              <a:t>設計驗證階段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1200" dirty="0"/>
              <a:t>C4</a:t>
            </a:r>
            <a:r>
              <a:rPr lang="zh-TW" altLang="en-US" sz="1200" dirty="0"/>
              <a:t>工程量試階段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1200" dirty="0"/>
              <a:t>C5</a:t>
            </a:r>
            <a:r>
              <a:rPr lang="zh-TW" altLang="en-US" sz="1200" dirty="0"/>
              <a:t>產品量試階段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zh-TW" sz="12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948264" y="4653136"/>
            <a:ext cx="1440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回顧</a:t>
            </a:r>
            <a:r>
              <a:rPr lang="en-US" altLang="zh-TW" sz="1200" dirty="0"/>
              <a:t>/</a:t>
            </a:r>
            <a:r>
              <a:rPr lang="zh-TW" altLang="en-US" sz="1200" dirty="0"/>
              <a:t>總結</a:t>
            </a:r>
            <a:r>
              <a:rPr lang="en-US" altLang="zh-TW" sz="1200" dirty="0"/>
              <a:t>/</a:t>
            </a:r>
            <a:r>
              <a:rPr lang="zh-TW" altLang="en-US" sz="1200" dirty="0"/>
              <a:t>導入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PM</a:t>
            </a:r>
            <a:r>
              <a:rPr lang="zh-TW" altLang="en-US" dirty="0"/>
              <a:t>相關角色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4294967295"/>
          </p:nvPr>
        </p:nvSpPr>
        <p:spPr>
          <a:xfrm>
            <a:off x="1331640" y="1916832"/>
            <a:ext cx="7416824" cy="4319587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PLM: Product Line Manager</a:t>
            </a:r>
          </a:p>
          <a:p>
            <a:r>
              <a:rPr lang="en-US" altLang="zh-TW" sz="2400" dirty="0"/>
              <a:t>PJM: Project Manager</a:t>
            </a:r>
          </a:p>
          <a:p>
            <a:r>
              <a:rPr lang="en-US" altLang="zh-TW" sz="2400" dirty="0"/>
              <a:t>PMC: Project Monitoring &amp; Control</a:t>
            </a:r>
          </a:p>
          <a:p>
            <a:pPr marL="0" indent="0">
              <a:buNone/>
            </a:pPr>
            <a:r>
              <a:rPr lang="en-US" altLang="zh-TW" sz="2400" dirty="0"/>
              <a:t>             (Product Management &amp; Coordination)</a:t>
            </a:r>
          </a:p>
          <a:p>
            <a:r>
              <a:rPr lang="en-US" altLang="zh-TW" sz="2400" dirty="0"/>
              <a:t>MPM: Manufacturing Process Management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4194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2395" y="1413917"/>
            <a:ext cx="2051050" cy="2806700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各階段大概時間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20713" y="1485627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endParaRPr lang="zh-TW" altLang="en-US" sz="2400">
              <a:latin typeface="Times New Roman" pitchFamily="18" charset="0"/>
            </a:endParaRPr>
          </a:p>
        </p:txBody>
      </p:sp>
      <p:graphicFrame>
        <p:nvGraphicFramePr>
          <p:cNvPr id="6" name="Group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037392"/>
              </p:ext>
            </p:extLst>
          </p:nvPr>
        </p:nvGraphicFramePr>
        <p:xfrm>
          <a:off x="468313" y="1257027"/>
          <a:ext cx="8229600" cy="127158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P0</a:t>
                      </a:r>
                      <a:endParaRPr kumimoji="1" lang="en-US" altLang="zh-TW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P1   </a:t>
                      </a:r>
                      <a:endParaRPr kumimoji="1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P2</a:t>
                      </a:r>
                      <a:endParaRPr kumimoji="1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P3</a:t>
                      </a:r>
                      <a:endParaRPr kumimoji="1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P4</a:t>
                      </a:r>
                      <a:endParaRPr kumimoji="1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P5</a:t>
                      </a:r>
                      <a:endParaRPr kumimoji="1" lang="en-US" altLang="zh-TW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Spec.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Placement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Tape out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Engineer Sample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PE</a:t>
                      </a:r>
                      <a:b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</a:b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Pilot Run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  <a:cs typeface="Arial" charset="0"/>
                        </a:rPr>
                        <a:t>MP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AutoShape 34"/>
          <p:cNvSpPr>
            <a:spLocks noChangeArrowheads="1"/>
          </p:cNvSpPr>
          <p:nvPr/>
        </p:nvSpPr>
        <p:spPr bwMode="auto">
          <a:xfrm>
            <a:off x="1535113" y="1257027"/>
            <a:ext cx="431800" cy="457200"/>
          </a:xfrm>
          <a:prstGeom prst="diamond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FFFF00"/>
                </a:solidFill>
              </a:rPr>
              <a:t>C0</a:t>
            </a:r>
          </a:p>
        </p:txBody>
      </p:sp>
      <p:sp>
        <p:nvSpPr>
          <p:cNvPr id="8" name="AutoShape 35"/>
          <p:cNvSpPr>
            <a:spLocks noChangeArrowheads="1"/>
          </p:cNvSpPr>
          <p:nvPr/>
        </p:nvSpPr>
        <p:spPr bwMode="auto">
          <a:xfrm>
            <a:off x="2906713" y="1257027"/>
            <a:ext cx="431800" cy="457200"/>
          </a:xfrm>
          <a:prstGeom prst="diamond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FFFF00"/>
                </a:solidFill>
              </a:rPr>
              <a:t>C1</a:t>
            </a:r>
          </a:p>
        </p:txBody>
      </p:sp>
      <p:sp>
        <p:nvSpPr>
          <p:cNvPr id="9" name="AutoShape 36"/>
          <p:cNvSpPr>
            <a:spLocks noChangeArrowheads="1"/>
          </p:cNvSpPr>
          <p:nvPr/>
        </p:nvSpPr>
        <p:spPr bwMode="auto">
          <a:xfrm>
            <a:off x="4278313" y="1257027"/>
            <a:ext cx="431800" cy="457200"/>
          </a:xfrm>
          <a:prstGeom prst="diamond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FFFF00"/>
                </a:solidFill>
              </a:rPr>
              <a:t>C2</a:t>
            </a:r>
          </a:p>
        </p:txBody>
      </p:sp>
      <p:sp>
        <p:nvSpPr>
          <p:cNvPr id="10" name="AutoShape 37"/>
          <p:cNvSpPr>
            <a:spLocks noChangeArrowheads="1"/>
          </p:cNvSpPr>
          <p:nvPr/>
        </p:nvSpPr>
        <p:spPr bwMode="auto">
          <a:xfrm>
            <a:off x="5726113" y="1257027"/>
            <a:ext cx="431800" cy="457200"/>
          </a:xfrm>
          <a:prstGeom prst="diamond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FFFF00"/>
                </a:solidFill>
              </a:rPr>
              <a:t>C3</a:t>
            </a:r>
          </a:p>
        </p:txBody>
      </p:sp>
      <p:sp>
        <p:nvSpPr>
          <p:cNvPr id="11" name="AutoShape 38"/>
          <p:cNvSpPr>
            <a:spLocks noChangeArrowheads="1"/>
          </p:cNvSpPr>
          <p:nvPr/>
        </p:nvSpPr>
        <p:spPr bwMode="auto">
          <a:xfrm>
            <a:off x="7021513" y="1257027"/>
            <a:ext cx="431800" cy="457200"/>
          </a:xfrm>
          <a:prstGeom prst="diamond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FFFF00"/>
                </a:solidFill>
              </a:rPr>
              <a:t>C4</a:t>
            </a:r>
          </a:p>
        </p:txBody>
      </p:sp>
      <p:sp>
        <p:nvSpPr>
          <p:cNvPr id="12" name="AutoShape 39"/>
          <p:cNvSpPr>
            <a:spLocks noChangeArrowheads="1"/>
          </p:cNvSpPr>
          <p:nvPr/>
        </p:nvSpPr>
        <p:spPr bwMode="auto">
          <a:xfrm>
            <a:off x="8469313" y="1257027"/>
            <a:ext cx="381000" cy="457200"/>
          </a:xfrm>
          <a:prstGeom prst="diamond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>
              <a:spcBef>
                <a:spcPct val="50000"/>
              </a:spcBef>
            </a:pPr>
            <a:r>
              <a:rPr kumimoji="0" lang="en-US" altLang="zh-TW" sz="1200" b="1">
                <a:solidFill>
                  <a:srgbClr val="FFFF00"/>
                </a:solidFill>
              </a:rPr>
              <a:t>C5</a:t>
            </a:r>
          </a:p>
        </p:txBody>
      </p:sp>
      <p:sp>
        <p:nvSpPr>
          <p:cNvPr id="13" name="AutoShape 40"/>
          <p:cNvSpPr>
            <a:spLocks noChangeArrowheads="1"/>
          </p:cNvSpPr>
          <p:nvPr/>
        </p:nvSpPr>
        <p:spPr bwMode="auto">
          <a:xfrm>
            <a:off x="1774826" y="2649265"/>
            <a:ext cx="1296987" cy="288925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en-US" altLang="zh-TW" dirty="0">
                <a:latin typeface="Times New Roman" pitchFamily="18" charset="0"/>
              </a:rPr>
              <a:t>5 Weeks</a:t>
            </a:r>
          </a:p>
        </p:txBody>
      </p:sp>
      <p:sp>
        <p:nvSpPr>
          <p:cNvPr id="14" name="AutoShape 41"/>
          <p:cNvSpPr>
            <a:spLocks noChangeArrowheads="1"/>
          </p:cNvSpPr>
          <p:nvPr/>
        </p:nvSpPr>
        <p:spPr bwMode="auto">
          <a:xfrm>
            <a:off x="4583113" y="2649265"/>
            <a:ext cx="1296988" cy="288925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en-US" altLang="zh-TW" dirty="0">
                <a:latin typeface="Times New Roman" pitchFamily="18" charset="0"/>
              </a:rPr>
              <a:t>8 Weeks</a:t>
            </a:r>
          </a:p>
        </p:txBody>
      </p:sp>
      <p:sp>
        <p:nvSpPr>
          <p:cNvPr id="15" name="AutoShape 42"/>
          <p:cNvSpPr>
            <a:spLocks noChangeArrowheads="1"/>
          </p:cNvSpPr>
          <p:nvPr/>
        </p:nvSpPr>
        <p:spPr bwMode="auto">
          <a:xfrm>
            <a:off x="3214688" y="2649265"/>
            <a:ext cx="1296988" cy="288925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en-US" altLang="zh-TW" dirty="0">
                <a:latin typeface="Times New Roman" pitchFamily="18" charset="0"/>
              </a:rPr>
              <a:t>3 Weeks</a:t>
            </a:r>
          </a:p>
        </p:txBody>
      </p:sp>
      <p:sp>
        <p:nvSpPr>
          <p:cNvPr id="16" name="AutoShape 43"/>
          <p:cNvSpPr>
            <a:spLocks noChangeArrowheads="1"/>
          </p:cNvSpPr>
          <p:nvPr/>
        </p:nvSpPr>
        <p:spPr bwMode="auto">
          <a:xfrm>
            <a:off x="5951538" y="2649265"/>
            <a:ext cx="1296988" cy="288925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en-US" altLang="zh-TW" dirty="0">
                <a:latin typeface="Times New Roman" pitchFamily="18" charset="0"/>
              </a:rPr>
              <a:t>15 Weeks</a:t>
            </a:r>
          </a:p>
        </p:txBody>
      </p:sp>
      <p:sp>
        <p:nvSpPr>
          <p:cNvPr id="17" name="AutoShape 44"/>
          <p:cNvSpPr>
            <a:spLocks noChangeArrowheads="1"/>
          </p:cNvSpPr>
          <p:nvPr/>
        </p:nvSpPr>
        <p:spPr bwMode="auto">
          <a:xfrm>
            <a:off x="7319963" y="2649265"/>
            <a:ext cx="1296988" cy="288925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en-US" altLang="zh-TW" dirty="0">
                <a:latin typeface="Times New Roman" pitchFamily="18" charset="0"/>
              </a:rPr>
              <a:t>2 Weeks</a:t>
            </a:r>
          </a:p>
        </p:txBody>
      </p:sp>
      <p:sp>
        <p:nvSpPr>
          <p:cNvPr id="18" name="Rectangle 46"/>
          <p:cNvSpPr>
            <a:spLocks noChangeArrowheads="1"/>
          </p:cNvSpPr>
          <p:nvPr/>
        </p:nvSpPr>
        <p:spPr bwMode="auto">
          <a:xfrm>
            <a:off x="479426" y="609327"/>
            <a:ext cx="12875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b="1" dirty="0"/>
              <a:t>P: Phase  </a:t>
            </a:r>
            <a:endParaRPr lang="zh-TW" altLang="en-US" b="1" dirty="0"/>
          </a:p>
        </p:txBody>
      </p:sp>
      <p:sp>
        <p:nvSpPr>
          <p:cNvPr id="19" name="Text Box 47"/>
          <p:cNvSpPr txBox="1">
            <a:spLocks noChangeArrowheads="1"/>
          </p:cNvSpPr>
          <p:nvPr/>
        </p:nvSpPr>
        <p:spPr bwMode="auto">
          <a:xfrm>
            <a:off x="479426" y="3881638"/>
            <a:ext cx="8351837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dirty="0"/>
              <a:t>NCS Project </a:t>
            </a:r>
            <a:r>
              <a:rPr lang="en-US" altLang="zh-TW" dirty="0" smtClean="0"/>
              <a:t>Template:</a:t>
            </a:r>
            <a:endParaRPr lang="en-US" altLang="zh-TW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dirty="0"/>
              <a:t>  New Design: </a:t>
            </a:r>
            <a:r>
              <a:rPr lang="en-US" altLang="zh-TW" dirty="0" smtClean="0"/>
              <a:t>18</a:t>
            </a:r>
            <a:r>
              <a:rPr lang="zh-TW" altLang="en-US" dirty="0" smtClean="0"/>
              <a:t>週 </a:t>
            </a:r>
            <a:r>
              <a:rPr lang="en-US" altLang="zh-TW" dirty="0"/>
              <a:t>C3 Meeting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dirty="0"/>
              <a:t>  Derivation: </a:t>
            </a:r>
            <a:r>
              <a:rPr lang="en-US" altLang="zh-TW" dirty="0" smtClean="0"/>
              <a:t>13</a:t>
            </a:r>
            <a:r>
              <a:rPr lang="zh-TW" altLang="en-US" dirty="0" smtClean="0"/>
              <a:t>週 </a:t>
            </a:r>
            <a:r>
              <a:rPr lang="en-US" altLang="zh-TW" dirty="0"/>
              <a:t>C3 Meeting</a:t>
            </a:r>
          </a:p>
        </p:txBody>
      </p:sp>
      <p:sp>
        <p:nvSpPr>
          <p:cNvPr id="20" name="Text Box 48"/>
          <p:cNvSpPr txBox="1">
            <a:spLocks noChangeArrowheads="1"/>
          </p:cNvSpPr>
          <p:nvPr/>
        </p:nvSpPr>
        <p:spPr bwMode="auto">
          <a:xfrm>
            <a:off x="539750" y="5517605"/>
            <a:ext cx="8208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solidFill>
                  <a:srgbClr val="FF0000"/>
                </a:solidFill>
              </a:rPr>
              <a:t>PS:</a:t>
            </a:r>
            <a:r>
              <a:rPr lang="zh-TW" altLang="en-US">
                <a:solidFill>
                  <a:srgbClr val="FF0000"/>
                </a:solidFill>
              </a:rPr>
              <a:t>過</a:t>
            </a:r>
            <a:r>
              <a:rPr lang="en-US" altLang="zh-TW">
                <a:solidFill>
                  <a:srgbClr val="FF0000"/>
                </a:solidFill>
              </a:rPr>
              <a:t>C3 Meeting, </a:t>
            </a:r>
            <a:r>
              <a:rPr lang="zh-TW" altLang="en-US">
                <a:solidFill>
                  <a:srgbClr val="FF0000"/>
                </a:solidFill>
              </a:rPr>
              <a:t>跳線不可超過</a:t>
            </a:r>
            <a:r>
              <a:rPr lang="en-US" altLang="zh-TW">
                <a:solidFill>
                  <a:srgbClr val="FF0000"/>
                </a:solidFill>
              </a:rPr>
              <a:t>5</a:t>
            </a:r>
            <a:r>
              <a:rPr lang="zh-TW" altLang="en-US">
                <a:solidFill>
                  <a:srgbClr val="FF0000"/>
                </a:solidFill>
              </a:rPr>
              <a:t>條</a:t>
            </a:r>
            <a:r>
              <a:rPr lang="en-US" altLang="zh-TW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1" name="Text Box 49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900113" y="5804942"/>
            <a:ext cx="6264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dirty="0">
                <a:solidFill>
                  <a:srgbClr val="0000FF"/>
                </a:solidFill>
              </a:rPr>
              <a:t>具体細節請參照</a:t>
            </a:r>
            <a:r>
              <a:rPr lang="en-US" altLang="zh-TW" dirty="0">
                <a:solidFill>
                  <a:srgbClr val="0000FF"/>
                </a:solidFill>
              </a:rPr>
              <a:t>:Q410-000 </a:t>
            </a:r>
            <a:r>
              <a:rPr lang="zh-TW" altLang="en-US" dirty="0">
                <a:solidFill>
                  <a:srgbClr val="0000FF"/>
                </a:solidFill>
              </a:rPr>
              <a:t>設計／開發管制程序</a:t>
            </a:r>
            <a:r>
              <a:rPr lang="en-US" altLang="zh-TW" dirty="0">
                <a:solidFill>
                  <a:srgbClr val="0000FF"/>
                </a:solidFill>
              </a:rPr>
              <a:t>-A3</a:t>
            </a:r>
            <a:r>
              <a:rPr lang="zh-TW" altLang="en-US" dirty="0">
                <a:solidFill>
                  <a:srgbClr val="0000FF"/>
                </a:solidFill>
              </a:rPr>
              <a:t>版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702793" y="609327"/>
            <a:ext cx="2293937" cy="366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C:Check point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680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P0/C0</a:t>
            </a:r>
            <a:r>
              <a:rPr lang="zh-TW" altLang="zh-TW" dirty="0"/>
              <a:t>產品規格要求階段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1003820" y="1556792"/>
            <a:ext cx="1872208" cy="7200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客戶</a:t>
            </a:r>
            <a:r>
              <a:rPr lang="zh-TW" altLang="en-US" dirty="0" smtClean="0"/>
              <a:t>需求</a:t>
            </a:r>
            <a:r>
              <a:rPr lang="en-US" altLang="zh-TW" dirty="0" smtClean="0"/>
              <a:t>/</a:t>
            </a:r>
            <a:r>
              <a:rPr lang="zh-TW" altLang="en-US" dirty="0" smtClean="0"/>
              <a:t>技術發展</a:t>
            </a: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1043608" y="3068960"/>
            <a:ext cx="1800000" cy="108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可行性分析</a:t>
            </a:r>
          </a:p>
        </p:txBody>
      </p:sp>
      <p:sp>
        <p:nvSpPr>
          <p:cNvPr id="6" name="圓角矩形 5"/>
          <p:cNvSpPr/>
          <p:nvPr/>
        </p:nvSpPr>
        <p:spPr>
          <a:xfrm>
            <a:off x="3708104" y="3068960"/>
            <a:ext cx="1800000" cy="108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Pre Kick-Off</a:t>
            </a:r>
            <a:endParaRPr lang="zh-TW" altLang="en-US" dirty="0"/>
          </a:p>
        </p:txBody>
      </p:sp>
      <p:sp>
        <p:nvSpPr>
          <p:cNvPr id="7" name="圓角矩形 6"/>
          <p:cNvSpPr/>
          <p:nvPr/>
        </p:nvSpPr>
        <p:spPr>
          <a:xfrm>
            <a:off x="6372200" y="3068960"/>
            <a:ext cx="1800200" cy="108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Kick-Off </a:t>
            </a:r>
          </a:p>
          <a:p>
            <a:pPr algn="ctr"/>
            <a:r>
              <a:rPr lang="en-US" altLang="zh-TW" dirty="0"/>
              <a:t>(C0 Meeting)</a:t>
            </a:r>
            <a:endParaRPr lang="zh-TW" altLang="en-US" dirty="0"/>
          </a:p>
        </p:txBody>
      </p:sp>
      <p:cxnSp>
        <p:nvCxnSpPr>
          <p:cNvPr id="9" name="直線單箭頭接點 8"/>
          <p:cNvCxnSpPr>
            <a:stCxn id="4" idx="4"/>
            <a:endCxn id="5" idx="0"/>
          </p:cNvCxnSpPr>
          <p:nvPr/>
        </p:nvCxnSpPr>
        <p:spPr>
          <a:xfrm>
            <a:off x="1939924" y="2276872"/>
            <a:ext cx="3684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5" idx="3"/>
            <a:endCxn id="6" idx="1"/>
          </p:cNvCxnSpPr>
          <p:nvPr/>
        </p:nvCxnSpPr>
        <p:spPr>
          <a:xfrm>
            <a:off x="2843608" y="3608960"/>
            <a:ext cx="8644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6" idx="3"/>
            <a:endCxn id="7" idx="1"/>
          </p:cNvCxnSpPr>
          <p:nvPr/>
        </p:nvCxnSpPr>
        <p:spPr>
          <a:xfrm>
            <a:off x="5508104" y="3608960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899592" y="4365104"/>
            <a:ext cx="2160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Thermal Simulation</a:t>
            </a:r>
          </a:p>
          <a:p>
            <a:r>
              <a:rPr lang="zh-TW" altLang="en-US" dirty="0"/>
              <a:t>技術可行性分析</a:t>
            </a:r>
            <a:endParaRPr lang="en-US" altLang="zh-TW" dirty="0"/>
          </a:p>
          <a:p>
            <a:r>
              <a:rPr lang="zh-TW" altLang="en-US" dirty="0"/>
              <a:t>品質要求</a:t>
            </a:r>
            <a:endParaRPr lang="en-US" altLang="zh-TW" dirty="0"/>
          </a:p>
          <a:p>
            <a:r>
              <a:rPr lang="zh-TW" altLang="en-US" dirty="0"/>
              <a:t>生產可行性</a:t>
            </a:r>
            <a:endParaRPr lang="en-US" altLang="zh-TW" dirty="0"/>
          </a:p>
          <a:p>
            <a:r>
              <a:rPr lang="zh-TW" altLang="en-US" dirty="0"/>
              <a:t>特殊測試規範</a:t>
            </a:r>
            <a:endParaRPr lang="en-US" altLang="zh-TW" dirty="0"/>
          </a:p>
          <a:p>
            <a:r>
              <a:rPr lang="zh-TW" altLang="en-US" dirty="0"/>
              <a:t>價格分析</a:t>
            </a:r>
            <a:endParaRPr lang="en-US" altLang="zh-TW" dirty="0"/>
          </a:p>
          <a:p>
            <a:r>
              <a:rPr lang="zh-TW" altLang="en-US" dirty="0"/>
              <a:t>認證</a:t>
            </a:r>
            <a:r>
              <a:rPr lang="en-US" altLang="zh-TW" dirty="0"/>
              <a:t>/</a:t>
            </a:r>
            <a:r>
              <a:rPr lang="zh-TW" altLang="en-US" dirty="0"/>
              <a:t>環境要求</a:t>
            </a:r>
            <a:r>
              <a:rPr lang="en-US" altLang="zh-TW" dirty="0"/>
              <a:t>….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3563888" y="4365104"/>
            <a:ext cx="2592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SOW 0.x</a:t>
            </a:r>
            <a:r>
              <a:rPr lang="zh-TW" altLang="en-US" dirty="0"/>
              <a:t>版</a:t>
            </a:r>
            <a:endParaRPr lang="en-US" altLang="zh-TW" dirty="0"/>
          </a:p>
          <a:p>
            <a:r>
              <a:rPr lang="en-US" altLang="zh-TW" dirty="0"/>
              <a:t>PSD 0.x</a:t>
            </a:r>
            <a:r>
              <a:rPr lang="zh-TW" altLang="en-US" dirty="0"/>
              <a:t>版</a:t>
            </a:r>
            <a:endParaRPr lang="en-US" altLang="zh-TW" dirty="0"/>
          </a:p>
          <a:p>
            <a:r>
              <a:rPr lang="en-US" altLang="zh-TW" dirty="0"/>
              <a:t>Schedule 0.x</a:t>
            </a:r>
            <a:r>
              <a:rPr lang="zh-TW" altLang="en-US" dirty="0"/>
              <a:t>版</a:t>
            </a:r>
            <a:endParaRPr lang="en-US" altLang="zh-TW" dirty="0"/>
          </a:p>
          <a:p>
            <a:r>
              <a:rPr lang="en-US" altLang="zh-TW" dirty="0"/>
              <a:t>Project Team</a:t>
            </a:r>
            <a:r>
              <a:rPr lang="zh-TW" altLang="en-US" dirty="0"/>
              <a:t>成員召集</a:t>
            </a:r>
          </a:p>
        </p:txBody>
      </p:sp>
      <p:sp>
        <p:nvSpPr>
          <p:cNvPr id="21" name="文字方塊 20"/>
          <p:cNvSpPr txBox="1"/>
          <p:nvPr/>
        </p:nvSpPr>
        <p:spPr>
          <a:xfrm>
            <a:off x="6300192" y="4293096"/>
            <a:ext cx="2592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Kick-Off Presentation</a:t>
            </a:r>
          </a:p>
          <a:p>
            <a:r>
              <a:rPr lang="en-US" altLang="zh-TW" dirty="0"/>
              <a:t>SOW </a:t>
            </a:r>
            <a:r>
              <a:rPr lang="en-US" altLang="zh-TW" dirty="0">
                <a:solidFill>
                  <a:srgbClr val="FF0000"/>
                </a:solidFill>
              </a:rPr>
              <a:t>1.x</a:t>
            </a:r>
            <a:r>
              <a:rPr lang="zh-TW" altLang="en-US" dirty="0"/>
              <a:t>版</a:t>
            </a:r>
            <a:endParaRPr lang="en-US" altLang="zh-TW" dirty="0"/>
          </a:p>
          <a:p>
            <a:r>
              <a:rPr lang="en-US" altLang="zh-TW" dirty="0"/>
              <a:t>PSD </a:t>
            </a:r>
            <a:r>
              <a:rPr lang="en-US" altLang="zh-TW" dirty="0">
                <a:solidFill>
                  <a:srgbClr val="FF0000"/>
                </a:solidFill>
              </a:rPr>
              <a:t>1.x</a:t>
            </a:r>
            <a:r>
              <a:rPr lang="zh-TW" altLang="en-US" dirty="0"/>
              <a:t>版</a:t>
            </a:r>
            <a:endParaRPr lang="en-US" altLang="zh-TW" dirty="0"/>
          </a:p>
          <a:p>
            <a:r>
              <a:rPr lang="en-US" altLang="zh-TW" dirty="0"/>
              <a:t>Schedule </a:t>
            </a:r>
            <a:r>
              <a:rPr lang="en-US" altLang="zh-TW" dirty="0">
                <a:solidFill>
                  <a:srgbClr val="FF0000"/>
                </a:solidFill>
              </a:rPr>
              <a:t>1.x</a:t>
            </a:r>
            <a:r>
              <a:rPr lang="zh-TW" altLang="en-US" dirty="0"/>
              <a:t>版</a:t>
            </a:r>
            <a:endParaRPr lang="en-US" altLang="zh-TW" dirty="0"/>
          </a:p>
          <a:p>
            <a:r>
              <a:rPr lang="en-US" altLang="zh-TW" dirty="0"/>
              <a:t>Project Team</a:t>
            </a:r>
            <a:r>
              <a:rPr lang="zh-TW" altLang="en-US" dirty="0"/>
              <a:t>成員參加</a:t>
            </a:r>
          </a:p>
        </p:txBody>
      </p:sp>
    </p:spTree>
    <p:extLst>
      <p:ext uri="{BB962C8B-B14F-4D97-AF65-F5344CB8AC3E}">
        <p14:creationId xmlns:p14="http://schemas.microsoft.com/office/powerpoint/2010/main" val="232008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P0(18</a:t>
            </a:r>
            <a:r>
              <a:rPr lang="zh-TW" altLang="en-US" dirty="0" smtClean="0"/>
              <a:t>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32856"/>
            <a:ext cx="8839397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3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正式</a:t>
            </a:r>
            <a:r>
              <a:rPr lang="en-US" altLang="zh-TW" dirty="0"/>
              <a:t>Kick Off</a:t>
            </a:r>
            <a:r>
              <a:rPr lang="zh-TW" altLang="en-US" dirty="0"/>
              <a:t>後動作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4294967295"/>
          </p:nvPr>
        </p:nvSpPr>
        <p:spPr>
          <a:xfrm>
            <a:off x="539552" y="1700808"/>
            <a:ext cx="8100392" cy="4319587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PLM PPM</a:t>
            </a:r>
            <a:r>
              <a:rPr lang="zh-TW" altLang="en-US" sz="2800" dirty="0"/>
              <a:t>專案啟動</a:t>
            </a:r>
            <a:r>
              <a:rPr lang="en-US" altLang="zh-TW" sz="2800" dirty="0"/>
              <a:t>(</a:t>
            </a:r>
            <a:r>
              <a:rPr lang="zh-TW" altLang="en-US" sz="2800" dirty="0"/>
              <a:t>請記得儲存比較基準</a:t>
            </a:r>
            <a:r>
              <a:rPr lang="en-US" altLang="zh-TW" sz="2800" dirty="0"/>
              <a:t>)-</a:t>
            </a:r>
            <a:r>
              <a:rPr lang="en-US" altLang="zh-TW" sz="2800" dirty="0">
                <a:solidFill>
                  <a:srgbClr val="FF0000"/>
                </a:solidFill>
              </a:rPr>
              <a:t>PMC</a:t>
            </a:r>
          </a:p>
          <a:p>
            <a:r>
              <a:rPr lang="en-US" altLang="zh-TW" sz="2800" dirty="0"/>
              <a:t>Kick off</a:t>
            </a:r>
            <a:r>
              <a:rPr lang="zh-TW" altLang="en-US" sz="2800" dirty="0"/>
              <a:t>文件發行</a:t>
            </a:r>
            <a:r>
              <a:rPr lang="en-US" altLang="zh-TW" sz="2800" dirty="0"/>
              <a:t>-SOW/PSD/</a:t>
            </a:r>
            <a:r>
              <a:rPr lang="zh-TW" altLang="en-US" sz="2800" dirty="0"/>
              <a:t>環境考量面評估表</a:t>
            </a:r>
            <a:r>
              <a:rPr lang="en-US" altLang="zh-TW" sz="2800" dirty="0"/>
              <a:t>-</a:t>
            </a:r>
            <a:r>
              <a:rPr lang="en-US" altLang="zh-TW" sz="2800" dirty="0">
                <a:solidFill>
                  <a:srgbClr val="FF0000"/>
                </a:solidFill>
              </a:rPr>
              <a:t>PLM/PJM</a:t>
            </a:r>
            <a:r>
              <a:rPr lang="zh-TW" altLang="en-US" sz="2800" dirty="0">
                <a:solidFill>
                  <a:srgbClr val="FF0000"/>
                </a:solidFill>
              </a:rPr>
              <a:t>提供</a:t>
            </a:r>
            <a:r>
              <a:rPr lang="en-US" altLang="zh-TW" sz="2800" dirty="0">
                <a:solidFill>
                  <a:srgbClr val="FF0000"/>
                </a:solidFill>
              </a:rPr>
              <a:t>;PMC</a:t>
            </a:r>
            <a:r>
              <a:rPr lang="zh-TW" altLang="en-US" sz="2800" dirty="0">
                <a:solidFill>
                  <a:srgbClr val="FF0000"/>
                </a:solidFill>
              </a:rPr>
              <a:t>發行</a:t>
            </a:r>
            <a:endParaRPr lang="en-US" altLang="zh-TW" sz="2800" dirty="0">
              <a:solidFill>
                <a:srgbClr val="FF0000"/>
              </a:solidFill>
            </a:endParaRPr>
          </a:p>
          <a:p>
            <a:r>
              <a:rPr lang="en-US" altLang="zh-TW" sz="2800" dirty="0"/>
              <a:t>C0 Meeting</a:t>
            </a:r>
            <a:r>
              <a:rPr lang="zh-TW" altLang="en-US" sz="2800" dirty="0"/>
              <a:t>匯簽</a:t>
            </a:r>
            <a:r>
              <a:rPr lang="en-US" altLang="zh-TW" sz="2800" dirty="0"/>
              <a:t>(PLM</a:t>
            </a:r>
            <a:r>
              <a:rPr lang="zh-TW" altLang="en-US" sz="2800" dirty="0"/>
              <a:t>系統</a:t>
            </a:r>
            <a:r>
              <a:rPr lang="en-US" altLang="zh-TW" sz="2800" dirty="0"/>
              <a:t>)-</a:t>
            </a:r>
            <a:r>
              <a:rPr lang="en-US" altLang="zh-TW" sz="2800" dirty="0">
                <a:solidFill>
                  <a:srgbClr val="FF0000"/>
                </a:solidFill>
              </a:rPr>
              <a:t>PMC</a:t>
            </a:r>
          </a:p>
          <a:p>
            <a:r>
              <a:rPr lang="en-US" altLang="zh-TW" sz="2800" dirty="0">
                <a:solidFill>
                  <a:srgbClr val="FF0000"/>
                </a:solidFill>
              </a:rPr>
              <a:t>PJM</a:t>
            </a:r>
            <a:r>
              <a:rPr lang="zh-TW" altLang="en-US" sz="2800" dirty="0"/>
              <a:t>申請</a:t>
            </a:r>
            <a:r>
              <a:rPr lang="en-US" altLang="zh-TW" sz="2800" dirty="0"/>
              <a:t>-</a:t>
            </a:r>
            <a:r>
              <a:rPr lang="zh-TW" altLang="en-US" sz="2800" dirty="0"/>
              <a:t>成品</a:t>
            </a:r>
            <a:r>
              <a:rPr lang="en-US" altLang="zh-TW" sz="2800" dirty="0"/>
              <a:t>/</a:t>
            </a:r>
            <a:r>
              <a:rPr lang="zh-TW" altLang="en-US" sz="2800" dirty="0"/>
              <a:t>半成品</a:t>
            </a:r>
            <a:r>
              <a:rPr lang="en-US" altLang="zh-TW" sz="2800" dirty="0"/>
              <a:t>Model Name</a:t>
            </a:r>
            <a:r>
              <a:rPr lang="zh-TW" altLang="en-US" sz="2800" dirty="0"/>
              <a:t>料號</a:t>
            </a:r>
            <a:r>
              <a:rPr lang="en-US" altLang="zh-TW" sz="2800" dirty="0"/>
              <a:t>(</a:t>
            </a:r>
            <a:r>
              <a:rPr lang="zh-TW" altLang="en-US" sz="2800" dirty="0"/>
              <a:t>通知</a:t>
            </a:r>
            <a:r>
              <a:rPr lang="en-US" altLang="zh-TW" sz="2800" dirty="0"/>
              <a:t>HW &amp; SE)</a:t>
            </a:r>
          </a:p>
          <a:p>
            <a:r>
              <a:rPr lang="en-US" altLang="zh-TW" sz="2800" dirty="0"/>
              <a:t>Project Code</a:t>
            </a:r>
            <a:r>
              <a:rPr lang="zh-TW" altLang="en-US" sz="2800" dirty="0"/>
              <a:t>申請</a:t>
            </a:r>
            <a:r>
              <a:rPr lang="en-US" altLang="zh-TW" sz="2800" dirty="0"/>
              <a:t>-</a:t>
            </a:r>
            <a:r>
              <a:rPr lang="en-US" altLang="zh-TW" sz="2800" dirty="0">
                <a:solidFill>
                  <a:srgbClr val="FF0000"/>
                </a:solidFill>
              </a:rPr>
              <a:t>PJM</a:t>
            </a:r>
          </a:p>
        </p:txBody>
      </p:sp>
    </p:spTree>
    <p:extLst>
      <p:ext uri="{BB962C8B-B14F-4D97-AF65-F5344CB8AC3E}">
        <p14:creationId xmlns:p14="http://schemas.microsoft.com/office/powerpoint/2010/main" val="375131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P1/C1</a:t>
            </a:r>
            <a:r>
              <a:rPr lang="zh-TW" altLang="zh-TW" dirty="0"/>
              <a:t>設計規劃階段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4294967295"/>
          </p:nvPr>
        </p:nvSpPr>
        <p:spPr>
          <a:xfrm>
            <a:off x="827584" y="1484784"/>
            <a:ext cx="8147050" cy="4824412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畫電路圖及</a:t>
            </a:r>
            <a:r>
              <a:rPr lang="en-US" altLang="zh-TW" dirty="0"/>
              <a:t>Layout Placement(RD)</a:t>
            </a:r>
            <a:r>
              <a:rPr lang="en-US" altLang="zh-TW" dirty="0">
                <a:sym typeface="Wingdings" pitchFamily="2" charset="2"/>
              </a:rPr>
              <a:t>Placement</a:t>
            </a:r>
            <a:r>
              <a:rPr lang="zh-TW" altLang="en-US" dirty="0">
                <a:sym typeface="Wingdings" pitchFamily="2" charset="2"/>
              </a:rPr>
              <a:t>設計審查</a:t>
            </a:r>
            <a:endParaRPr lang="en-US" altLang="zh-TW" dirty="0">
              <a:sym typeface="Wingdings" pitchFamily="2" charset="2"/>
            </a:endParaRPr>
          </a:p>
          <a:p>
            <a:pPr>
              <a:buFontTx/>
              <a:buNone/>
            </a:pPr>
            <a:r>
              <a:rPr lang="zh-TW" altLang="en-US" dirty="0"/>
              <a:t>   新電子料料號申請</a:t>
            </a:r>
            <a:r>
              <a:rPr lang="en-US" altLang="zh-TW" dirty="0"/>
              <a:t>/Pre-BOM(HW)</a:t>
            </a:r>
          </a:p>
          <a:p>
            <a:r>
              <a:rPr lang="zh-TW" altLang="en-US" dirty="0">
                <a:solidFill>
                  <a:srgbClr val="FF33CC"/>
                </a:solidFill>
              </a:rPr>
              <a:t>文件</a:t>
            </a:r>
            <a:r>
              <a:rPr lang="en-US" altLang="zh-TW" dirty="0">
                <a:solidFill>
                  <a:srgbClr val="FF33CC"/>
                </a:solidFill>
              </a:rPr>
              <a:t>:</a:t>
            </a:r>
          </a:p>
          <a:p>
            <a:pPr>
              <a:buFontTx/>
              <a:buNone/>
            </a:pPr>
            <a:r>
              <a:rPr lang="zh-TW" altLang="en-US" sz="2800" dirty="0"/>
              <a:t>   研發管制表</a:t>
            </a:r>
            <a:r>
              <a:rPr lang="en-US" altLang="zh-TW" sz="2800" dirty="0"/>
              <a:t>(HW)</a:t>
            </a:r>
            <a:endParaRPr lang="zh-TW" altLang="en-US" sz="2800" dirty="0"/>
          </a:p>
          <a:p>
            <a:pPr>
              <a:buFontTx/>
              <a:buNone/>
            </a:pPr>
            <a:r>
              <a:rPr lang="en-US" altLang="zh-TW" sz="2800" dirty="0"/>
              <a:t>   Cost BOM(PMC)</a:t>
            </a:r>
          </a:p>
          <a:p>
            <a:pPr>
              <a:buFontTx/>
              <a:buNone/>
            </a:pPr>
            <a:r>
              <a:rPr lang="en-US" altLang="zh-TW" sz="2800" dirty="0"/>
              <a:t>   C1 Design Check List (PM)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板端備料計劃</a:t>
            </a:r>
            <a:r>
              <a:rPr lang="en-US" altLang="zh-TW" dirty="0">
                <a:solidFill>
                  <a:srgbClr val="FF0000"/>
                </a:solidFill>
              </a:rPr>
              <a:t>: (</a:t>
            </a:r>
            <a:r>
              <a:rPr lang="zh-TW" altLang="en-US" dirty="0">
                <a:solidFill>
                  <a:srgbClr val="FF0000"/>
                </a:solidFill>
              </a:rPr>
              <a:t>研發所需</a:t>
            </a:r>
            <a:r>
              <a:rPr lang="en-US" altLang="zh-TW" dirty="0">
                <a:solidFill>
                  <a:srgbClr val="FF0000"/>
                </a:solidFill>
              </a:rPr>
              <a:t>+</a:t>
            </a:r>
            <a:r>
              <a:rPr lang="zh-TW" altLang="en-US" dirty="0">
                <a:solidFill>
                  <a:srgbClr val="FF0000"/>
                </a:solidFill>
              </a:rPr>
              <a:t>客戶</a:t>
            </a:r>
            <a:r>
              <a:rPr lang="en-US" altLang="zh-TW" dirty="0">
                <a:solidFill>
                  <a:srgbClr val="FF0000"/>
                </a:solidFill>
              </a:rPr>
              <a:t>sample)</a:t>
            </a:r>
          </a:p>
          <a:p>
            <a:pPr>
              <a:buFontTx/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   L/T</a:t>
            </a:r>
            <a:r>
              <a:rPr lang="zh-TW" altLang="en-US" sz="2800" dirty="0">
                <a:solidFill>
                  <a:srgbClr val="FF0000"/>
                </a:solidFill>
              </a:rPr>
              <a:t>備料</a:t>
            </a:r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r>
              <a:rPr lang="zh-TW" altLang="en-US" sz="2800" dirty="0">
                <a:solidFill>
                  <a:srgbClr val="FF0000"/>
                </a:solidFill>
              </a:rPr>
              <a:t>新產品樣品需求單</a:t>
            </a:r>
            <a:r>
              <a:rPr lang="en-US" altLang="zh-TW" sz="2800" dirty="0">
                <a:solidFill>
                  <a:srgbClr val="FF0000"/>
                </a:solidFill>
              </a:rPr>
              <a:t>(6</a:t>
            </a:r>
            <a:r>
              <a:rPr lang="zh-TW" altLang="en-US" sz="2800" dirty="0">
                <a:solidFill>
                  <a:srgbClr val="FF0000"/>
                </a:solidFill>
              </a:rPr>
              <a:t>週以上</a:t>
            </a:r>
            <a:r>
              <a:rPr lang="en-US" altLang="zh-TW" sz="2800" dirty="0">
                <a:solidFill>
                  <a:srgbClr val="FF0000"/>
                </a:solidFill>
              </a:rPr>
              <a:t>)</a:t>
            </a:r>
          </a:p>
          <a:p>
            <a:pPr>
              <a:buFontTx/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   C1</a:t>
            </a:r>
            <a:r>
              <a:rPr lang="zh-TW" altLang="en-US" sz="2800" dirty="0">
                <a:solidFill>
                  <a:srgbClr val="FF0000"/>
                </a:solidFill>
              </a:rPr>
              <a:t>備料</a:t>
            </a:r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r>
              <a:rPr lang="zh-TW" altLang="en-US" sz="2800" dirty="0">
                <a:solidFill>
                  <a:srgbClr val="FF0000"/>
                </a:solidFill>
              </a:rPr>
              <a:t>新產品備料通知單</a:t>
            </a:r>
            <a:r>
              <a:rPr lang="en-US" altLang="zh-TW" sz="2800" dirty="0">
                <a:solidFill>
                  <a:srgbClr val="FF0000"/>
                </a:solidFill>
              </a:rPr>
              <a:t>(</a:t>
            </a:r>
            <a:r>
              <a:rPr lang="zh-TW" altLang="en-US" sz="2800" dirty="0">
                <a:solidFill>
                  <a:srgbClr val="FF0000"/>
                </a:solidFill>
              </a:rPr>
              <a:t>約</a:t>
            </a:r>
            <a:r>
              <a:rPr lang="en-US" altLang="zh-TW" sz="2800" dirty="0">
                <a:solidFill>
                  <a:srgbClr val="FF0000"/>
                </a:solidFill>
              </a:rPr>
              <a:t>4</a:t>
            </a:r>
            <a:r>
              <a:rPr lang="zh-TW" altLang="en-US" sz="2800" dirty="0">
                <a:solidFill>
                  <a:srgbClr val="FF0000"/>
                </a:solidFill>
              </a:rPr>
              <a:t>週</a:t>
            </a:r>
            <a:r>
              <a:rPr lang="en-US" altLang="zh-TW" sz="2800" dirty="0">
                <a:solidFill>
                  <a:srgbClr val="FF0000"/>
                </a:solidFill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802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P1(18</a:t>
            </a:r>
            <a:r>
              <a:rPr lang="zh-TW" altLang="en-US" dirty="0" smtClean="0"/>
              <a:t>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56792"/>
            <a:ext cx="8568952" cy="43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0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P2/C2-</a:t>
            </a:r>
            <a:r>
              <a:rPr lang="zh-TW" altLang="en-US" dirty="0"/>
              <a:t>產品設計階段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4294967295"/>
          </p:nvPr>
        </p:nvSpPr>
        <p:spPr>
          <a:xfrm>
            <a:off x="971302" y="1412776"/>
            <a:ext cx="8147050" cy="4824412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zh-TW" altLang="en-US" sz="2800" dirty="0"/>
              <a:t>拉線</a:t>
            </a:r>
            <a:r>
              <a:rPr lang="en-US" altLang="zh-TW" sz="2800" dirty="0"/>
              <a:t>/Tune</a:t>
            </a:r>
            <a:r>
              <a:rPr lang="zh-TW" altLang="en-US" sz="2800" dirty="0"/>
              <a:t>線</a:t>
            </a:r>
            <a:r>
              <a:rPr lang="en-US" altLang="zh-TW" sz="2800" dirty="0"/>
              <a:t>/Tape-out </a:t>
            </a:r>
            <a:r>
              <a:rPr lang="en-US" altLang="zh-TW" sz="2800" dirty="0"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800" dirty="0">
                <a:sym typeface="Wingdings" pitchFamily="2" charset="2"/>
              </a:rPr>
              <a:t>   ECO/</a:t>
            </a:r>
            <a:r>
              <a:rPr lang="zh-TW" altLang="en-US" sz="2800" dirty="0">
                <a:sym typeface="Wingdings" pitchFamily="2" charset="2"/>
              </a:rPr>
              <a:t>新產品試產放行單</a:t>
            </a:r>
            <a:endParaRPr lang="en-US" altLang="zh-TW" sz="2800" dirty="0"/>
          </a:p>
          <a:p>
            <a:pPr>
              <a:lnSpc>
                <a:spcPct val="90000"/>
              </a:lnSpc>
            </a:pPr>
            <a:r>
              <a:rPr lang="zh-TW" altLang="en-US" sz="2800" dirty="0">
                <a:solidFill>
                  <a:srgbClr val="FF33CC"/>
                </a:solidFill>
              </a:rPr>
              <a:t>文件</a:t>
            </a:r>
            <a:r>
              <a:rPr lang="en-US" altLang="zh-TW" sz="2800" dirty="0">
                <a:solidFill>
                  <a:srgbClr val="FF33CC"/>
                </a:solidFill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TW" altLang="en-US" sz="2800" dirty="0"/>
              <a:t>  </a:t>
            </a:r>
            <a:r>
              <a:rPr lang="en-US" altLang="zh-TW" sz="2800" dirty="0"/>
              <a:t>C2 Design Check List(PM)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TW" altLang="en-US" sz="2400" dirty="0"/>
              <a:t>  成品</a:t>
            </a:r>
            <a:r>
              <a:rPr lang="en-US" altLang="zh-TW" sz="2400" dirty="0"/>
              <a:t>Pre-BOM(SE)</a:t>
            </a:r>
            <a:r>
              <a:rPr lang="en-US" altLang="zh-TW" sz="2400" dirty="0">
                <a:sym typeface="Wingdings" pitchFamily="2" charset="2"/>
              </a:rPr>
              <a:t>Excel</a:t>
            </a:r>
            <a:r>
              <a:rPr lang="zh-TW" altLang="en-US" sz="2400" dirty="0">
                <a:sym typeface="Wingdings" pitchFamily="2" charset="2"/>
              </a:rPr>
              <a:t>清單</a:t>
            </a:r>
            <a:r>
              <a:rPr lang="en-US" altLang="zh-TW" sz="2400" dirty="0">
                <a:sym typeface="Wingdings" pitchFamily="2" charset="2"/>
              </a:rPr>
              <a:t>(SE)</a:t>
            </a:r>
            <a:endParaRPr lang="en-US" altLang="zh-TW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dirty="0"/>
              <a:t>  EVT Test Plan(DQA)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400" dirty="0"/>
              <a:t>  System Reliability Test Plan(SE)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dirty="0"/>
              <a:t>  Engineering Spec(HW)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dirty="0"/>
              <a:t>  QVL List</a:t>
            </a:r>
            <a:r>
              <a:rPr lang="zh-TW" altLang="en-US" sz="2400" dirty="0"/>
              <a:t>初版</a:t>
            </a:r>
            <a:r>
              <a:rPr lang="en-US" altLang="zh-TW" sz="2400" dirty="0"/>
              <a:t>(PJM)</a:t>
            </a:r>
            <a:r>
              <a:rPr lang="en-US" altLang="zh-TW" sz="2400" dirty="0">
                <a:sym typeface="Wingdings" pitchFamily="2" charset="2"/>
              </a:rPr>
              <a:t></a:t>
            </a:r>
            <a:r>
              <a:rPr lang="zh-TW" altLang="en-US" sz="2400" dirty="0">
                <a:sym typeface="Wingdings" pitchFamily="2" charset="2"/>
              </a:rPr>
              <a:t>提供給</a:t>
            </a:r>
            <a:r>
              <a:rPr lang="en-US" altLang="zh-TW" sz="2400" dirty="0">
                <a:sym typeface="Wingdings" pitchFamily="2" charset="2"/>
              </a:rPr>
              <a:t>HW/SQA/DQA/QT/PE</a:t>
            </a:r>
            <a:r>
              <a:rPr lang="zh-TW" altLang="en-US" sz="2400" dirty="0">
                <a:sym typeface="Wingdings" pitchFamily="2" charset="2"/>
              </a:rPr>
              <a:t>參考</a:t>
            </a:r>
            <a:endParaRPr lang="en-US" altLang="zh-TW" sz="2400" dirty="0"/>
          </a:p>
          <a:p>
            <a:pPr>
              <a:lnSpc>
                <a:spcPct val="90000"/>
              </a:lnSpc>
            </a:pPr>
            <a:r>
              <a:rPr lang="zh-TW" altLang="en-US" sz="2800" dirty="0">
                <a:solidFill>
                  <a:srgbClr val="FF0000"/>
                </a:solidFill>
              </a:rPr>
              <a:t>系統料備料計劃</a:t>
            </a:r>
            <a:r>
              <a:rPr lang="en-US" altLang="zh-TW" sz="2800" dirty="0">
                <a:solidFill>
                  <a:srgbClr val="FF0000"/>
                </a:solidFill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TW" altLang="en-US" sz="2800" dirty="0">
                <a:solidFill>
                  <a:srgbClr val="FF0000"/>
                </a:solidFill>
              </a:rPr>
              <a:t>  </a:t>
            </a:r>
            <a:r>
              <a:rPr lang="zh-TW" altLang="en-US" sz="2400" dirty="0">
                <a:solidFill>
                  <a:srgbClr val="FF0000"/>
                </a:solidFill>
              </a:rPr>
              <a:t>機構</a:t>
            </a:r>
            <a:r>
              <a:rPr lang="en-US" altLang="zh-TW" sz="2400" dirty="0">
                <a:solidFill>
                  <a:srgbClr val="FF0000"/>
                </a:solidFill>
              </a:rPr>
              <a:t>/Cable </a:t>
            </a:r>
            <a:r>
              <a:rPr lang="zh-TW" altLang="en-US" sz="2400" dirty="0">
                <a:solidFill>
                  <a:srgbClr val="FF0000"/>
                </a:solidFill>
              </a:rPr>
              <a:t>製作</a:t>
            </a:r>
            <a:r>
              <a:rPr lang="en-US" altLang="zh-TW" sz="2400" dirty="0">
                <a:solidFill>
                  <a:srgbClr val="FF0000"/>
                </a:solidFill>
              </a:rPr>
              <a:t>-</a:t>
            </a:r>
            <a:r>
              <a:rPr lang="zh-TW" altLang="en-US" sz="2400" dirty="0">
                <a:solidFill>
                  <a:srgbClr val="FF0000"/>
                </a:solidFill>
              </a:rPr>
              <a:t>發包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</a:rPr>
              <a:t>  Power Supply/FAN/</a:t>
            </a:r>
            <a:r>
              <a:rPr lang="en-US" altLang="zh-TW" sz="2400" dirty="0" err="1">
                <a:solidFill>
                  <a:srgbClr val="FF0000"/>
                </a:solidFill>
              </a:rPr>
              <a:t>Heatsink</a:t>
            </a:r>
            <a:r>
              <a:rPr lang="en-US" altLang="zh-TW" sz="2400" dirty="0">
                <a:solidFill>
                  <a:srgbClr val="FF0000"/>
                </a:solidFill>
              </a:rPr>
              <a:t>-</a:t>
            </a:r>
            <a:r>
              <a:rPr lang="zh-TW" altLang="en-US" sz="2400" dirty="0">
                <a:solidFill>
                  <a:srgbClr val="FF0000"/>
                </a:solidFill>
              </a:rPr>
              <a:t>新產品樣品需求單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057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P2(18</a:t>
            </a:r>
            <a:r>
              <a:rPr lang="zh-TW" altLang="en-US" dirty="0" smtClean="0"/>
              <a:t>週</a:t>
            </a:r>
            <a:r>
              <a:rPr lang="en-US" altLang="zh-TW" dirty="0"/>
              <a:t>)-1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844824"/>
            <a:ext cx="8568952" cy="382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6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P2(18</a:t>
            </a:r>
            <a:r>
              <a:rPr lang="zh-TW" altLang="en-US" dirty="0" smtClean="0"/>
              <a:t>週</a:t>
            </a:r>
            <a:r>
              <a:rPr lang="en-US" altLang="zh-TW" dirty="0"/>
              <a:t>)-2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420888"/>
            <a:ext cx="8728926" cy="202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5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P3/C3-</a:t>
            </a:r>
            <a:r>
              <a:rPr lang="zh-TW" altLang="en-US" dirty="0"/>
              <a:t>設計驗證階段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4294967295"/>
          </p:nvPr>
        </p:nvSpPr>
        <p:spPr>
          <a:xfrm>
            <a:off x="827584" y="1628800"/>
            <a:ext cx="8147050" cy="45259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zh-TW" sz="2400" dirty="0"/>
              <a:t>PCBA</a:t>
            </a:r>
            <a:r>
              <a:rPr lang="zh-TW" altLang="en-US" sz="2400" dirty="0"/>
              <a:t>上線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TW" sz="2400" dirty="0"/>
              <a:t>    Function Debug-HW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TW" sz="2400" dirty="0"/>
              <a:t>    EVT Test-DQA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TW" sz="2400" dirty="0"/>
              <a:t>    </a:t>
            </a:r>
            <a:r>
              <a:rPr lang="zh-TW" altLang="en-US" sz="2400" dirty="0"/>
              <a:t>訊號量測</a:t>
            </a:r>
            <a:r>
              <a:rPr lang="en-US" altLang="zh-TW" sz="2400" dirty="0"/>
              <a:t>-SQA(</a:t>
            </a:r>
            <a:r>
              <a:rPr lang="zh-TW" altLang="en-US" sz="2400" dirty="0"/>
              <a:t>高速</a:t>
            </a:r>
            <a:r>
              <a:rPr lang="en-US" altLang="zh-TW" sz="2400" dirty="0"/>
              <a:t>)/EA(</a:t>
            </a:r>
            <a:r>
              <a:rPr lang="zh-TW" altLang="en-US" sz="2400" dirty="0"/>
              <a:t>低速</a:t>
            </a:r>
            <a:r>
              <a:rPr lang="en-US" altLang="zh-TW" sz="2400" dirty="0"/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TW" sz="2400" dirty="0"/>
              <a:t>    System C3 Test-SE</a:t>
            </a:r>
          </a:p>
          <a:p>
            <a:pPr>
              <a:lnSpc>
                <a:spcPct val="80000"/>
              </a:lnSpc>
            </a:pPr>
            <a:r>
              <a:rPr lang="zh-TW" altLang="en-US" sz="2400" dirty="0">
                <a:solidFill>
                  <a:srgbClr val="FF33CC"/>
                </a:solidFill>
              </a:rPr>
              <a:t>文件</a:t>
            </a:r>
            <a:r>
              <a:rPr lang="en-US" altLang="zh-TW" sz="2400" dirty="0">
                <a:solidFill>
                  <a:srgbClr val="FF33CC"/>
                </a:solidFill>
              </a:rPr>
              <a:t>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400" dirty="0"/>
              <a:t>   EVT Test Report-DQA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400" dirty="0"/>
              <a:t>   Thermal Report-SE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</a:rPr>
              <a:t>   DVT Test </a:t>
            </a:r>
            <a:r>
              <a:rPr lang="en-US" altLang="zh-TW" sz="2400" dirty="0" smtClean="0">
                <a:solidFill>
                  <a:srgbClr val="FF0000"/>
                </a:solidFill>
              </a:rPr>
              <a:t>Plan-DQA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</a:rPr>
              <a:t>   IRT Test Plan-IRT</a:t>
            </a:r>
            <a:endParaRPr lang="en-US" altLang="zh-TW" sz="2400" dirty="0">
              <a:solidFill>
                <a:srgbClr val="333399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solidFill>
                  <a:srgbClr val="FF0000"/>
                </a:solidFill>
              </a:rPr>
              <a:t>Pilot Run</a:t>
            </a:r>
            <a:r>
              <a:rPr lang="zh-TW" altLang="en-US" sz="2400" dirty="0">
                <a:solidFill>
                  <a:srgbClr val="FF0000"/>
                </a:solidFill>
              </a:rPr>
              <a:t>燒機設備備料</a:t>
            </a:r>
          </a:p>
          <a:p>
            <a:pPr marL="0" indent="0">
              <a:buNone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6435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P3-1(18</a:t>
            </a:r>
            <a:r>
              <a:rPr lang="zh-TW" altLang="en-US" dirty="0" smtClean="0"/>
              <a:t>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060848"/>
            <a:ext cx="8388472" cy="34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3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P3-2(18</a:t>
            </a:r>
            <a:r>
              <a:rPr lang="zh-TW" altLang="en-US" dirty="0" smtClean="0"/>
              <a:t>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628800"/>
            <a:ext cx="8280920" cy="390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1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P3-3(18</a:t>
            </a:r>
            <a:r>
              <a:rPr lang="zh-TW" altLang="en-US" dirty="0" smtClean="0"/>
              <a:t>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132856"/>
            <a:ext cx="8352928" cy="303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5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P3-4(18</a:t>
            </a:r>
            <a:r>
              <a:rPr lang="zh-TW" altLang="en-US" dirty="0"/>
              <a:t>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28800"/>
            <a:ext cx="8640960" cy="468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02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6E3E99-658F-4193-A6C8-EB66B028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C3/C4 Open Issue Judgement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88648C-4829-4167-B259-F574DD95692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7584" y="1628800"/>
            <a:ext cx="8147050" cy="5040313"/>
          </a:xfrm>
        </p:spPr>
        <p:txBody>
          <a:bodyPr/>
          <a:lstStyle/>
          <a:p>
            <a:r>
              <a:rPr lang="en-US" altLang="zh-TW" dirty="0"/>
              <a:t>DQA</a:t>
            </a:r>
            <a:r>
              <a:rPr lang="zh-TW" altLang="en-US" dirty="0"/>
              <a:t>列出 </a:t>
            </a:r>
            <a:r>
              <a:rPr lang="en-US" altLang="zh-TW" dirty="0" err="1"/>
              <a:t>R</a:t>
            </a:r>
            <a:r>
              <a:rPr lang="en-US" altLang="zh-TW" dirty="0" err="1" smtClean="0"/>
              <a:t>edmine</a:t>
            </a:r>
            <a:r>
              <a:rPr lang="en-US" altLang="zh-TW" dirty="0" smtClean="0"/>
              <a:t> </a:t>
            </a:r>
            <a:r>
              <a:rPr lang="en-US" altLang="zh-TW" dirty="0"/>
              <a:t>open issue</a:t>
            </a:r>
          </a:p>
          <a:p>
            <a:r>
              <a:rPr lang="en-US" altLang="zh-TW" dirty="0"/>
              <a:t>PJM</a:t>
            </a:r>
            <a:r>
              <a:rPr lang="zh-TW" altLang="en-US" dirty="0"/>
              <a:t>請相關單位對這些</a:t>
            </a:r>
            <a:r>
              <a:rPr lang="en-US" altLang="zh-TW" dirty="0"/>
              <a:t>issue</a:t>
            </a:r>
            <a:r>
              <a:rPr lang="zh-TW" altLang="en-US" dirty="0"/>
              <a:t>做出說明及要採取的措施</a:t>
            </a:r>
            <a:endParaRPr lang="en-US" altLang="zh-TW" dirty="0"/>
          </a:p>
          <a:p>
            <a:r>
              <a:rPr lang="en-US" altLang="zh-TW" dirty="0"/>
              <a:t>PJM</a:t>
            </a:r>
            <a:r>
              <a:rPr lang="zh-TW" altLang="en-US" dirty="0"/>
              <a:t>收集完資訊發給各主管</a:t>
            </a:r>
            <a:endParaRPr lang="en-US" altLang="zh-TW" dirty="0"/>
          </a:p>
          <a:p>
            <a:r>
              <a:rPr lang="en-US" altLang="zh-TW" dirty="0" smtClean="0"/>
              <a:t>Allan:</a:t>
            </a:r>
            <a:r>
              <a:rPr lang="zh-TW" altLang="en-US" dirty="0" smtClean="0"/>
              <a:t> </a:t>
            </a:r>
            <a:r>
              <a:rPr lang="en-US" altLang="zh-TW" dirty="0" smtClean="0"/>
              <a:t>Sales/Product Spec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Jovanni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EE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   Cobalt:</a:t>
            </a:r>
            <a:r>
              <a:rPr lang="zh-TW" altLang="en-US" dirty="0" smtClean="0"/>
              <a:t> </a:t>
            </a:r>
            <a:r>
              <a:rPr lang="en-US" altLang="zh-TW" dirty="0" smtClean="0"/>
              <a:t>SW </a:t>
            </a:r>
            <a:r>
              <a:rPr lang="en-US" altLang="zh-TW" dirty="0"/>
              <a:t>&amp; FAE</a:t>
            </a:r>
          </a:p>
          <a:p>
            <a:pPr marL="0" indent="0">
              <a:buNone/>
            </a:pPr>
            <a:r>
              <a:rPr lang="en-US" altLang="zh-TW" dirty="0"/>
              <a:t>   Nick/Kent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DQA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509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155000" cy="792000"/>
          </a:xfrm>
        </p:spPr>
        <p:txBody>
          <a:bodyPr/>
          <a:lstStyle/>
          <a:p>
            <a:r>
              <a:rPr lang="en-US" altLang="zh-TW" dirty="0"/>
              <a:t>P4/C4</a:t>
            </a:r>
            <a:r>
              <a:rPr lang="zh-TW" altLang="zh-TW" dirty="0"/>
              <a:t>工程量試階段</a:t>
            </a:r>
            <a:endParaRPr lang="zh-TW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1520" y="1124744"/>
            <a:ext cx="9361487" cy="525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Pct val="90000"/>
              <a:buFont typeface="Wingdings" pitchFamily="2" charset="2"/>
              <a:buChar char="t"/>
              <a:defRPr kumimoji="1" sz="3200" b="1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n"/>
              <a:defRPr kumimoji="1" sz="2800">
                <a:solidFill>
                  <a:srgbClr val="4D4D4D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125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115000"/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15000"/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115000"/>
              <a:buFont typeface="Arial" pitchFamily="34" charset="0"/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115000"/>
              <a:buFont typeface="Arial" pitchFamily="34" charset="0"/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115000"/>
              <a:buFont typeface="Arial" pitchFamily="34" charset="0"/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115000"/>
              <a:buFont typeface="Arial" pitchFamily="34" charset="0"/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2000" dirty="0"/>
              <a:t>Transfer Meeting-HW/SE/PE(RMA/FAE)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000" dirty="0"/>
              <a:t>     System Reliability Test Report-SE</a:t>
            </a:r>
            <a:endParaRPr lang="en-US" altLang="zh-TW" sz="2000" dirty="0">
              <a:hlinkClick r:id="rId2" action="ppaction://hlinkfile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000" dirty="0"/>
              <a:t>     DVT </a:t>
            </a:r>
            <a:r>
              <a:rPr lang="en-US" altLang="zh-TW" sz="2000" dirty="0" smtClean="0"/>
              <a:t>Test-DQA; </a:t>
            </a:r>
            <a:r>
              <a:rPr lang="en-US" altLang="zh-TW" sz="2000" dirty="0"/>
              <a:t>IRT test-IRT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000" dirty="0"/>
              <a:t>     PE Pilot Run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000" dirty="0"/>
              <a:t>     PE Pilot Run Test(</a:t>
            </a:r>
            <a:r>
              <a:rPr lang="zh-TW" altLang="en-US" sz="2000" dirty="0"/>
              <a:t>板端</a:t>
            </a:r>
            <a:r>
              <a:rPr lang="en-US" altLang="zh-TW" sz="20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000" dirty="0"/>
              <a:t>     PE-</a:t>
            </a:r>
            <a:r>
              <a:rPr lang="zh-TW" altLang="en-US" sz="2000" dirty="0"/>
              <a:t>系統</a:t>
            </a:r>
            <a:r>
              <a:rPr lang="en-US" altLang="zh-TW" sz="2000" dirty="0"/>
              <a:t>Reliability Test(ESS/Power on-off/power input rating)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2000" dirty="0"/>
              <a:t>     PVT Test(BURN IN TEST)-IRT</a:t>
            </a:r>
          </a:p>
          <a:p>
            <a:pPr>
              <a:lnSpc>
                <a:spcPct val="90000"/>
              </a:lnSpc>
            </a:pPr>
            <a:r>
              <a:rPr lang="zh-TW" altLang="en-US" sz="2400" dirty="0">
                <a:solidFill>
                  <a:srgbClr val="FF00FF"/>
                </a:solidFill>
              </a:rPr>
              <a:t>文件</a:t>
            </a:r>
            <a:r>
              <a:rPr lang="en-US" altLang="zh-TW" sz="2400" dirty="0">
                <a:solidFill>
                  <a:srgbClr val="FF00FF"/>
                </a:solidFill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1600" dirty="0"/>
              <a:t>   PE Pilot Run Report(PE)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1600" dirty="0"/>
              <a:t>   DVT Test </a:t>
            </a:r>
            <a:r>
              <a:rPr lang="en-US" altLang="zh-TW" sz="1600" dirty="0" smtClean="0"/>
              <a:t>Report(DQA)</a:t>
            </a:r>
            <a:endParaRPr lang="en-US" altLang="zh-TW" sz="16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1600" dirty="0"/>
              <a:t>   IRT Test Report(IRT)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/>
              <a:t>   QVL List Final</a:t>
            </a:r>
            <a:r>
              <a:rPr lang="zh-TW" altLang="en-US" sz="1600" dirty="0"/>
              <a:t>版</a:t>
            </a:r>
            <a:r>
              <a:rPr lang="en-US" altLang="zh-TW" sz="1600" dirty="0"/>
              <a:t>-PM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1600" dirty="0"/>
              <a:t>   PVT Test Report(IRT)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1600" dirty="0"/>
              <a:t>   MTBF Report(10F DQA)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1600" dirty="0"/>
              <a:t>   Marketing Material-Photo/Quick Guide/Data Sheet/Manual/Product Launch Note(PM)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TW" altLang="en-US" sz="1600" dirty="0"/>
              <a:t>   環境考量面驗證表</a:t>
            </a:r>
            <a:r>
              <a:rPr lang="en-US" altLang="zh-TW" sz="1600" dirty="0"/>
              <a:t>(PM)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TW" altLang="en-US" sz="1600" dirty="0"/>
              <a:t>   承認書全部到齊</a:t>
            </a:r>
          </a:p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Pilot Run </a:t>
            </a:r>
            <a:r>
              <a:rPr lang="zh-TW" altLang="en-US" sz="2000" dirty="0">
                <a:solidFill>
                  <a:srgbClr val="FF0000"/>
                </a:solidFill>
              </a:rPr>
              <a:t>成品</a:t>
            </a:r>
            <a:r>
              <a:rPr lang="en-US" altLang="zh-TW" sz="2000" dirty="0">
                <a:solidFill>
                  <a:srgbClr val="FF0000"/>
                </a:solidFill>
              </a:rPr>
              <a:t>/</a:t>
            </a:r>
            <a:r>
              <a:rPr lang="zh-TW" altLang="en-US" sz="2000" dirty="0">
                <a:solidFill>
                  <a:srgbClr val="FF0000"/>
                </a:solidFill>
              </a:rPr>
              <a:t>半成品備料計劃</a:t>
            </a:r>
            <a:r>
              <a:rPr lang="en-US" altLang="zh-TW" sz="2000" dirty="0">
                <a:solidFill>
                  <a:srgbClr val="FF0000"/>
                </a:solidFill>
              </a:rPr>
              <a:t>-Pilot Run</a:t>
            </a:r>
            <a:r>
              <a:rPr lang="zh-TW" altLang="en-US" sz="2000" dirty="0">
                <a:solidFill>
                  <a:srgbClr val="FF0000"/>
                </a:solidFill>
              </a:rPr>
              <a:t>前約</a:t>
            </a:r>
            <a:r>
              <a:rPr lang="en-US" altLang="zh-TW" sz="2000" dirty="0">
                <a:solidFill>
                  <a:srgbClr val="FF0000"/>
                </a:solidFill>
              </a:rPr>
              <a:t>6</a:t>
            </a:r>
            <a:r>
              <a:rPr lang="zh-TW" altLang="en-US" sz="2000" dirty="0">
                <a:solidFill>
                  <a:srgbClr val="FF0000"/>
                </a:solidFill>
              </a:rPr>
              <a:t>週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TW" sz="2000" dirty="0"/>
          </a:p>
          <a:p>
            <a:pPr>
              <a:lnSpc>
                <a:spcPct val="90000"/>
              </a:lnSpc>
              <a:buFontTx/>
              <a:buNone/>
            </a:pP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57909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P4-1(18</a:t>
            </a:r>
            <a:r>
              <a:rPr lang="zh-TW" altLang="en-US" dirty="0" smtClean="0"/>
              <a:t>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060848"/>
            <a:ext cx="8352928" cy="327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8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P4-2(18</a:t>
            </a:r>
            <a:r>
              <a:rPr lang="zh-TW" altLang="en-US" dirty="0" smtClean="0"/>
              <a:t>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772816"/>
            <a:ext cx="8712968" cy="424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9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P4-3(18</a:t>
            </a:r>
            <a:r>
              <a:rPr lang="zh-TW" altLang="en-US" dirty="0" smtClean="0"/>
              <a:t>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11" y="2276873"/>
            <a:ext cx="8602369" cy="273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9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P5/C5-</a:t>
            </a:r>
            <a:r>
              <a:rPr lang="zh-TW" altLang="en-US" dirty="0"/>
              <a:t>產品量試階段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4294967295"/>
          </p:nvPr>
        </p:nvSpPr>
        <p:spPr>
          <a:xfrm>
            <a:off x="1187624" y="1844824"/>
            <a:ext cx="6840760" cy="4319587"/>
          </a:xfrm>
        </p:spPr>
        <p:txBody>
          <a:bodyPr/>
          <a:lstStyle/>
          <a:p>
            <a:r>
              <a:rPr lang="zh-TW" altLang="en-US" dirty="0"/>
              <a:t>產品作業指導書</a:t>
            </a:r>
            <a:r>
              <a:rPr lang="en-US" altLang="zh-TW" dirty="0"/>
              <a:t>(SOP)</a:t>
            </a:r>
          </a:p>
          <a:p>
            <a:r>
              <a:rPr lang="zh-TW" altLang="en-US" dirty="0"/>
              <a:t>產品檢驗規範指導書</a:t>
            </a:r>
            <a:r>
              <a:rPr lang="en-US" altLang="zh-TW" dirty="0"/>
              <a:t>(</a:t>
            </a:r>
            <a:r>
              <a:rPr lang="zh-TW" altLang="en-US" dirty="0"/>
              <a:t>固定一份</a:t>
            </a:r>
            <a:r>
              <a:rPr lang="en-US" altLang="zh-TW" dirty="0"/>
              <a:t>)</a:t>
            </a:r>
            <a:endParaRPr lang="zh-TW" altLang="en-US" dirty="0"/>
          </a:p>
          <a:p>
            <a:r>
              <a:rPr lang="en-US" altLang="zh-TW" dirty="0"/>
              <a:t>QC</a:t>
            </a:r>
            <a:r>
              <a:rPr lang="zh-TW" altLang="en-US" dirty="0"/>
              <a:t>工程表</a:t>
            </a:r>
            <a:r>
              <a:rPr lang="en-US" altLang="zh-TW" dirty="0"/>
              <a:t>(</a:t>
            </a:r>
            <a:r>
              <a:rPr lang="zh-TW" altLang="en-US" dirty="0"/>
              <a:t>固定一份</a:t>
            </a:r>
            <a:r>
              <a:rPr lang="en-US" altLang="zh-TW" dirty="0"/>
              <a:t>)</a:t>
            </a:r>
            <a:endParaRPr lang="zh-TW" altLang="en-US" dirty="0"/>
          </a:p>
          <a:p>
            <a:r>
              <a:rPr lang="en-US" altLang="zh-TW" dirty="0"/>
              <a:t>FCC/CE/UL-</a:t>
            </a:r>
            <a:r>
              <a:rPr lang="zh-TW" altLang="en-US" dirty="0"/>
              <a:t>證書</a:t>
            </a:r>
            <a:r>
              <a:rPr lang="en-US" altLang="zh-TW" dirty="0"/>
              <a:t>/Report</a:t>
            </a:r>
          </a:p>
          <a:p>
            <a:r>
              <a:rPr lang="zh-TW" altLang="en-US" dirty="0"/>
              <a:t>反銀龍料號申請</a:t>
            </a:r>
            <a:r>
              <a:rPr lang="en-US" altLang="zh-TW" dirty="0"/>
              <a:t>(</a:t>
            </a:r>
            <a:r>
              <a:rPr lang="zh-TW" altLang="en-US" dirty="0"/>
              <a:t>有</a:t>
            </a:r>
            <a:r>
              <a:rPr lang="en-US" altLang="zh-TW" dirty="0"/>
              <a:t>UL Mark)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建議可和</a:t>
            </a:r>
            <a:r>
              <a:rPr lang="en-US" altLang="zh-TW" dirty="0">
                <a:solidFill>
                  <a:srgbClr val="FF0000"/>
                </a:solidFill>
              </a:rPr>
              <a:t>Close Meeting</a:t>
            </a:r>
            <a:r>
              <a:rPr lang="zh-TW" altLang="en-US" dirty="0">
                <a:solidFill>
                  <a:srgbClr val="FF0000"/>
                </a:solidFill>
              </a:rPr>
              <a:t>一起舉行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415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P5(18</a:t>
            </a:r>
            <a:r>
              <a:rPr lang="zh-TW" altLang="en-US" dirty="0" smtClean="0"/>
              <a:t>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564904"/>
            <a:ext cx="8694966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1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Close Meeting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4294967295"/>
          </p:nvPr>
        </p:nvSpPr>
        <p:spPr>
          <a:xfrm>
            <a:off x="827584" y="1772816"/>
            <a:ext cx="7560840" cy="4319587"/>
          </a:xfrm>
        </p:spPr>
        <p:txBody>
          <a:bodyPr/>
          <a:lstStyle/>
          <a:p>
            <a:pPr>
              <a:spcBef>
                <a:spcPct val="50000"/>
              </a:spcBef>
              <a:buFont typeface="Wingdings" pitchFamily="2" charset="2"/>
              <a:buChar char="u"/>
            </a:pPr>
            <a:r>
              <a:rPr lang="zh-TW" altLang="en-US" sz="2400" dirty="0"/>
              <a:t>成功關鍵因素</a:t>
            </a:r>
            <a:r>
              <a:rPr lang="en-US" altLang="zh-TW" sz="2400" dirty="0"/>
              <a:t>-PJM</a:t>
            </a:r>
            <a:endParaRPr lang="zh-TW" altLang="en-US" sz="2400" dirty="0"/>
          </a:p>
          <a:p>
            <a:pPr>
              <a:spcBef>
                <a:spcPct val="50000"/>
              </a:spcBef>
              <a:buFont typeface="Wingdings" pitchFamily="2" charset="2"/>
              <a:buChar char="u"/>
            </a:pPr>
            <a:r>
              <a:rPr lang="zh-TW" altLang="en-US" sz="2400" dirty="0"/>
              <a:t>檢討是否如期</a:t>
            </a:r>
            <a:r>
              <a:rPr lang="en-US" altLang="zh-TW" sz="2400" dirty="0"/>
              <a:t>/</a:t>
            </a:r>
            <a:r>
              <a:rPr lang="zh-TW" altLang="en-US" sz="2400" dirty="0"/>
              <a:t>如質</a:t>
            </a:r>
            <a:r>
              <a:rPr lang="en-US" altLang="zh-TW" sz="2400" dirty="0"/>
              <a:t>/</a:t>
            </a:r>
            <a:r>
              <a:rPr lang="zh-TW" altLang="en-US" sz="2400" dirty="0"/>
              <a:t>如預算</a:t>
            </a:r>
            <a:r>
              <a:rPr lang="en-US" altLang="zh-TW" sz="2400" dirty="0"/>
              <a:t>-PJM</a:t>
            </a:r>
            <a:endParaRPr lang="zh-TW" altLang="en-US" sz="2400" dirty="0"/>
          </a:p>
          <a:p>
            <a:pPr>
              <a:spcBef>
                <a:spcPct val="50000"/>
              </a:spcBef>
              <a:buFont typeface="Wingdings" pitchFamily="2" charset="2"/>
              <a:buChar char="u"/>
            </a:pPr>
            <a:r>
              <a:rPr lang="en-US" altLang="zh-TW" sz="2400" dirty="0"/>
              <a:t>Risk Management-PJM</a:t>
            </a:r>
          </a:p>
          <a:p>
            <a:pPr>
              <a:spcBef>
                <a:spcPct val="50000"/>
              </a:spcBef>
              <a:buFont typeface="Wingdings" pitchFamily="2" charset="2"/>
              <a:buChar char="u"/>
            </a:pPr>
            <a:r>
              <a:rPr lang="en-US" altLang="zh-TW" sz="2400" dirty="0"/>
              <a:t>Lesson &amp; Learn(</a:t>
            </a:r>
            <a:r>
              <a:rPr lang="zh-TW" altLang="en-US" sz="2400" dirty="0"/>
              <a:t>技術</a:t>
            </a:r>
            <a:r>
              <a:rPr lang="en-US" altLang="zh-TW" sz="2400" dirty="0"/>
              <a:t>/</a:t>
            </a:r>
            <a:r>
              <a:rPr lang="zh-TW" altLang="en-US" sz="2400" dirty="0"/>
              <a:t>流程</a:t>
            </a:r>
            <a:r>
              <a:rPr lang="en-US" altLang="zh-TW" sz="2400" dirty="0"/>
              <a:t>)-HW</a:t>
            </a:r>
          </a:p>
          <a:p>
            <a:pPr>
              <a:spcBef>
                <a:spcPct val="50000"/>
              </a:spcBef>
              <a:buFont typeface="Wingdings" pitchFamily="2" charset="2"/>
              <a:buChar char="u"/>
            </a:pPr>
            <a:r>
              <a:rPr lang="zh-TW" altLang="en-US" sz="2400" dirty="0"/>
              <a:t>需導入事項</a:t>
            </a:r>
            <a:r>
              <a:rPr lang="en-US" altLang="zh-TW" sz="2400" dirty="0"/>
              <a:t>-PJM</a:t>
            </a:r>
            <a:endParaRPr lang="zh-TW" altLang="en-US" sz="2400" dirty="0"/>
          </a:p>
          <a:p>
            <a:pPr>
              <a:spcBef>
                <a:spcPct val="50000"/>
              </a:spcBef>
              <a:buFont typeface="Wingdings" pitchFamily="2" charset="2"/>
              <a:buChar char="u"/>
            </a:pPr>
            <a:r>
              <a:rPr lang="zh-TW" altLang="en-US" sz="2400" dirty="0"/>
              <a:t>打個分數</a:t>
            </a:r>
            <a:r>
              <a:rPr lang="en-US" altLang="zh-TW" sz="2400" dirty="0"/>
              <a:t>-PJM</a:t>
            </a:r>
            <a:endParaRPr lang="zh-TW" altLang="en-US" sz="24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284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139952" y="2708920"/>
            <a:ext cx="3564000" cy="15120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Calibri" pitchFamily="34" charset="0"/>
              </a:rPr>
              <a:t>Thank You!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58657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XCOM">
  <a:themeElements>
    <a:clrScheme name="NEXCOM Light Mod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469AB"/>
      </a:accent1>
      <a:accent2>
        <a:srgbClr val="9DABC1"/>
      </a:accent2>
      <a:accent3>
        <a:srgbClr val="6D6C76"/>
      </a:accent3>
      <a:accent4>
        <a:srgbClr val="49474E"/>
      </a:accent4>
      <a:accent5>
        <a:srgbClr val="731349"/>
      </a:accent5>
      <a:accent6>
        <a:srgbClr val="FFFFFF"/>
      </a:accent6>
      <a:hlink>
        <a:srgbClr val="0563C1"/>
      </a:hlink>
      <a:folHlink>
        <a:srgbClr val="954F72"/>
      </a:folHlink>
    </a:clrScheme>
    <a:fontScheme name="One NEXCOM Font">
      <a:majorFont>
        <a:latin typeface="Roboto"/>
        <a:ea typeface="Noto Sans TC"/>
        <a:cs typeface=""/>
      </a:majorFont>
      <a:minorFont>
        <a:latin typeface="Roboto Light"/>
        <a:ea typeface="Noto Sans T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5355</TotalTime>
  <Words>858</Words>
  <Application>Microsoft Office PowerPoint</Application>
  <PresentationFormat>如螢幕大小 (4:3)</PresentationFormat>
  <Paragraphs>178</Paragraphs>
  <Slides>26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26</vt:i4>
      </vt:variant>
    </vt:vector>
  </HeadingPairs>
  <TitlesOfParts>
    <vt:vector size="38" baseType="lpstr">
      <vt:lpstr>Noto Sans TC</vt:lpstr>
      <vt:lpstr>Noto Sans TC Light</vt:lpstr>
      <vt:lpstr>新細明體</vt:lpstr>
      <vt:lpstr>標準系統字體</vt:lpstr>
      <vt:lpstr>Arial</vt:lpstr>
      <vt:lpstr>Calibri</vt:lpstr>
      <vt:lpstr>Roboto</vt:lpstr>
      <vt:lpstr>Roboto Light</vt:lpstr>
      <vt:lpstr>Times New Roman</vt:lpstr>
      <vt:lpstr>Wingdings</vt:lpstr>
      <vt:lpstr>自訂設計</vt:lpstr>
      <vt:lpstr>NEXCOM</vt:lpstr>
      <vt:lpstr>研發C流程簡介</vt:lpstr>
      <vt:lpstr>專案管理5大流程 vs Nexcom 研發流程</vt:lpstr>
      <vt:lpstr>PM相關角色</vt:lpstr>
      <vt:lpstr>各階段大概時間</vt:lpstr>
      <vt:lpstr>P0/C0產品規格要求階段</vt:lpstr>
      <vt:lpstr>P0(18週)</vt:lpstr>
      <vt:lpstr>正式Kick Off後動作</vt:lpstr>
      <vt:lpstr>P1/C1設計規劃階段</vt:lpstr>
      <vt:lpstr>P1(18週)</vt:lpstr>
      <vt:lpstr>P2/C2-產品設計階段</vt:lpstr>
      <vt:lpstr>P2(18週)-1</vt:lpstr>
      <vt:lpstr>P2(18週)-2</vt:lpstr>
      <vt:lpstr>P3/C3-設計驗證階段</vt:lpstr>
      <vt:lpstr>P3-1(18週)</vt:lpstr>
      <vt:lpstr>P3-2(18週)</vt:lpstr>
      <vt:lpstr>P3-3(18週)</vt:lpstr>
      <vt:lpstr>P3-4(18週)</vt:lpstr>
      <vt:lpstr>C3/C4 Open Issue Judgement</vt:lpstr>
      <vt:lpstr>P4/C4工程量試階段</vt:lpstr>
      <vt:lpstr>P4-1(18週)</vt:lpstr>
      <vt:lpstr>P4-2(18週)</vt:lpstr>
      <vt:lpstr>P4-3(18週)</vt:lpstr>
      <vt:lpstr>P5/C5-產品量試階段</vt:lpstr>
      <vt:lpstr>P5(18週)</vt:lpstr>
      <vt:lpstr>Close Meeting</vt:lpstr>
      <vt:lpstr>Thank You!</vt:lpstr>
    </vt:vector>
  </TitlesOfParts>
  <Company>NEXCOM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NEXCOM 2008 GPC ICS in 2008</dc:title>
  <dc:creator>mis</dc:creator>
  <cp:lastModifiedBy>Jason Huang[黃梧桐]</cp:lastModifiedBy>
  <cp:revision>1115</cp:revision>
  <cp:lastPrinted>2020-06-01T05:12:45Z</cp:lastPrinted>
  <dcterms:created xsi:type="dcterms:W3CDTF">2008-05-18T14:44:12Z</dcterms:created>
  <dcterms:modified xsi:type="dcterms:W3CDTF">2025-06-12T09:25:14Z</dcterms:modified>
</cp:coreProperties>
</file>